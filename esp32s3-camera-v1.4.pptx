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3" r:id="rId24"/>
    <p:sldId id="274" r:id="rId25"/>
    <p:sldId id="275" r:id="rId26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8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csc.com/product-detail/Wire-To-Board-Connector_JST-B2B-PH-K-S-LF-SN_C131337.html" TargetMode="External"/><Relationship Id="rId3" Type="http://schemas.openxmlformats.org/officeDocument/2006/relationships/hyperlink" Target="https://www.icshop.com.tw/products/368020101502" TargetMode="External"/><Relationship Id="rId4" Type="http://schemas.openxmlformats.org/officeDocument/2006/relationships/hyperlink" Target="https://www.lcsc.com/product-detail/PCB-Connectors-Headers-Male-Pins_Shenzhen-Cankemeng-Headers-Pins-1-4P-2-54mm-Straight-line_C124378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cshop.com.tw/products/368030501479" TargetMode="External"/><Relationship Id="rId3" Type="http://schemas.openxmlformats.org/officeDocument/2006/relationships/hyperlink" Target="https://www.aliexpress.us/item/3256802773370193.html" TargetMode="External"/><Relationship Id="rId4" Type="http://schemas.openxmlformats.org/officeDocument/2006/relationships/hyperlink" Target="https://www.100y.com.tw/product/158757" TargetMode="External"/><Relationship Id="rId5" Type="http://schemas.openxmlformats.org/officeDocument/2006/relationships/hyperlink" Target="https://www.yfe2019.com.tw/products/3.7V600mA%E8%81%9A%E5%90%88%E7%89%A9%E9%8B%B0%E9%9B%BB%E6%B1%A0503040-5e8561f5986e57d2.html" TargetMode="External"/><Relationship Id="rId6" Type="http://schemas.openxmlformats.org/officeDocument/2006/relationships/hyperlink" Target="https://www.icshop.com.tw/products/368090500104" TargetMode="External"/><Relationship Id="rId7" Type="http://schemas.openxmlformats.org/officeDocument/2006/relationships/hyperlink" Target="https://www.aliexpress.us/item/2255800033232649.html" TargetMode="External"/><Relationship Id="rId8" Type="http://schemas.openxmlformats.org/officeDocument/2006/relationships/hyperlink" Target="https://www.aliexpress.us/item/2251832694355820.html" TargetMode="External"/><Relationship Id="rId9" Type="http://schemas.openxmlformats.org/officeDocument/2006/relationships/hyperlink" Target="https://www.icshop.com.tw/products/368031700013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igikey.tw/zh/products/detail/espressif-systems/ESP32-S3-WROOM-1-N16R8/16162642" TargetMode="External"/><Relationship Id="rId3" Type="http://schemas.openxmlformats.org/officeDocument/2006/relationships/hyperlink" Target="https://www.icshop.com.tw/products/368030501809" TargetMode="External"/><Relationship Id="rId4" Type="http://schemas.openxmlformats.org/officeDocument/2006/relationships/hyperlink" Target="https://www.icshop.com.tw/products/368030501479" TargetMode="External"/><Relationship Id="rId5" Type="http://schemas.openxmlformats.org/officeDocument/2006/relationships/hyperlink" Target="https://www.aliexpress.us/item/3256802773370193.html" TargetMode="External"/><Relationship Id="rId6" Type="http://schemas.openxmlformats.org/officeDocument/2006/relationships/hyperlink" Target="https://shop.playrobot.com/products/cee0055" TargetMode="External"/><Relationship Id="rId7" Type="http://schemas.openxmlformats.org/officeDocument/2006/relationships/hyperlink" Target="https://www.icshop.com.tw/products/368090500165" TargetMode="External"/><Relationship Id="rId8" Type="http://schemas.openxmlformats.org/officeDocument/2006/relationships/hyperlink" Target="https://www.icshop.com.tw/products/368090500104" TargetMode="External"/><Relationship Id="rId9" Type="http://schemas.openxmlformats.org/officeDocument/2006/relationships/hyperlink" Target="https://tw.bid.yahoo.com/item/100076609165" TargetMode="External"/><Relationship Id="rId10" Type="http://schemas.openxmlformats.org/officeDocument/2006/relationships/hyperlink" Target="https://www.lcsc.com/product-detail/C202112.html" TargetMode="External"/><Relationship Id="rId11" Type="http://schemas.openxmlformats.org/officeDocument/2006/relationships/hyperlink" Target="https://lcsc.com/product-detail/C114218.html" TargetMode="External"/><Relationship Id="rId12" Type="http://schemas.openxmlformats.org/officeDocument/2006/relationships/hyperlink" Target="https://www.lcsc.com/product-detail/C2894897.html" TargetMode="External"/><Relationship Id="rId13" Type="http://schemas.openxmlformats.org/officeDocument/2006/relationships/hyperlink" Target="https://www.lcsc.com/product-detail/C131337.html" TargetMode="External"/><Relationship Id="rId14" Type="http://schemas.openxmlformats.org/officeDocument/2006/relationships/hyperlink" Target="https://www.lcsc.com/product-detail/WiFi-Modules_Espressif-Systems-ESP32-S3-WROOM-1-N16R8_C2913202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F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mbled-iso-top.png"/>
          <p:cNvPicPr>
            <a:picLocks noChangeAspect="1"/>
          </p:cNvPicPr>
          <p:nvPr/>
        </p:nvPicPr>
        <p:blipFill>
          <a:blip r:embed="rId3"/>
          <a:srcRect l="20898" r="20898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9360" y="0"/>
            <a:ext cx="822960" cy="6858000"/>
          </a:xfrm>
          <a:prstGeom prst="rect">
            <a:avLst/>
          </a:prstGeom>
          <a:solidFill>
            <a:srgbClr val="1F3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含 3D 列印外殼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669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哪些零件 JLCPCB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幫你焊好，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哪些要自己買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零件分工圖、組裝示意、3D 渲染、外殼與採購清單。依實際 PCB 座標整理，對應 2026-09-22 定稿的電路板 v1.4。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7725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9536" y="54406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JLCPCB 貼好（SMD）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59" y="547725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871215" y="5440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插件兩顆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79" y="547725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059935" y="5440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板外零件，自己買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本頁對應電路板 v1.4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2026-09-22 定稿，快照存在專案 versions/v1.4/，含 Gerber、BOM、CPL、ERC/DRC 報告，視為唯讀。v1.2、v1.3 都沒有下單。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066543" cy="32918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3"/>
          <p:cNvSpPr/>
          <p:nvPr/>
        </p:nvSpPr>
        <p:spPr>
          <a:xfrm>
            <a:off x="7296912" y="1737360"/>
            <a:ext cx="2066543" cy="32918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7922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F5D46"/>
                </a:solidFill>
                <a:latin typeface="Consolas"/>
                <a:ea typeface="Microsoft JhengHei"/>
                <a:cs typeface="Microsoft JhengHei"/>
              </a:rPr>
              <a:t>v1.0</a:t>
            </a:r>
          </a:p>
        </p:txBody>
      </p:sp>
      <p:sp>
        <p:nvSpPr>
          <p:cNvPr id="27" name="TextBox 4"/>
          <p:cNvSpPr txBox="1"/>
          <p:nvPr/>
        </p:nvSpPr>
        <p:spPr>
          <a:xfrm>
            <a:off x="7434071" y="1920240"/>
            <a:ext cx="17922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F5D46"/>
                </a:solidFill>
                <a:latin typeface="Consolas"/>
                <a:ea typeface="Microsoft JhengHei"/>
                <a:cs typeface="Microsoft JhengHei"/>
              </a:rPr>
              <a:t>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最初佈局</a:t>
            </a:r>
          </a:p>
        </p:txBody>
      </p:sp>
      <p:sp>
        <p:nvSpPr>
          <p:cNvPr id="28" name="TextBox 5"/>
          <p:cNvSpPr txBox="1"/>
          <p:nvPr/>
        </p:nvSpPr>
        <p:spPr>
          <a:xfrm>
            <a:off x="7434071" y="2560320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螢幕母座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179222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60 × 85 mm 四層板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ESP32-S3-WROOM-1 模組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OV2640 相機、microSD、鋰電池充電</a:t>
            </a:r>
          </a:p>
        </p:txBody>
      </p:sp>
      <p:sp>
        <p:nvSpPr>
          <p:cNvPr id="29" name="TextBox 6"/>
          <p:cNvSpPr txBox="1"/>
          <p:nvPr/>
        </p:nvSpPr>
        <p:spPr>
          <a:xfrm>
            <a:off x="7434071" y="3063240"/>
            <a:ext cx="179222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J5、J6 兩條排針換成 1×7 母座 J5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1.3 吋 ST7789 螢幕直插，不用杜邦線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SCL = GPIO44、SDA = GPIO43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為 3D 列印外殼而改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8064" y="1737360"/>
            <a:ext cx="2066543" cy="32918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935224" y="1920240"/>
            <a:ext cx="17922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F5D46"/>
                </a:solidFill>
                <a:latin typeface="Consolas"/>
                <a:ea typeface="Microsoft JhengHei"/>
                <a:cs typeface="Microsoft JhengHei"/>
              </a:rPr>
              <a:t>v1.1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2560320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相機腳位標準化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3063240"/>
            <a:ext cx="179222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相機腳位改為 ESP32-CAM 標準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加相機專用 2.8V / 1.2V LDO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BOM 填入 LCSC 料號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1737360"/>
            <a:ext cx="2066543" cy="32918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13"/>
          <p:cNvSpPr/>
          <p:nvPr/>
        </p:nvSpPr>
        <p:spPr>
          <a:xfrm>
            <a:off x="9546336" y="1737360"/>
            <a:ext cx="2066543" cy="3291840"/>
          </a:xfrm>
          <a:prstGeom prst="roundRect">
            <a:avLst>
              <a:gd name="adj" fmla="val 4000"/>
            </a:avLst>
          </a:prstGeom>
          <a:solidFill>
            <a:srgbClr val="1F3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184648" y="1920240"/>
            <a:ext cx="17922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F5D46"/>
                </a:solidFill>
                <a:latin typeface="Consolas"/>
                <a:ea typeface="Microsoft JhengHei"/>
                <a:cs typeface="Microsoft JhengHei"/>
              </a:rPr>
              <a:t>v1.2</a:t>
            </a:r>
          </a:p>
        </p:txBody>
      </p:sp>
      <p:sp>
        <p:nvSpPr>
          <p:cNvPr id="23" name="TextBox 14"/>
          <p:cNvSpPr txBox="1"/>
          <p:nvPr/>
        </p:nvSpPr>
        <p:spPr>
          <a:xfrm>
            <a:off x="9683496" y="1920240"/>
            <a:ext cx="17922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v1.4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2560320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電源開關與電源燈</a:t>
            </a:r>
          </a:p>
        </p:txBody>
      </p:sp>
      <p:sp>
        <p:nvSpPr>
          <p:cNvPr id="24" name="TextBox 15"/>
          <p:cNvSpPr txBox="1"/>
          <p:nvPr/>
        </p:nvSpPr>
        <p:spPr>
          <a:xfrm>
            <a:off x="9683496" y="2560320"/>
            <a:ext cx="179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側按快門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3063240"/>
            <a:ext cx="179222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加電源滑動開關 SW4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加 EN 上拉 R21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加藍色電源燈 D5 與限流 R20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絲印標 ON / OFF</a:t>
            </a:r>
          </a:p>
        </p:txBody>
      </p:sp>
      <p:sp>
        <p:nvSpPr>
          <p:cNvPr id="25" name="TextBox 16"/>
          <p:cNvSpPr txBox="1"/>
          <p:nvPr/>
        </p:nvSpPr>
        <p:spPr>
          <a:xfrm>
            <a:off x="9683496" y="3063240"/>
            <a:ext cx="179222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快門 SW3 換成側按式 ALPS SKRTLAE010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移到上板邊右段 (50.6, 2.6)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C12 下移、快門線改繞模組下方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外殼上牆做快門帽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v1.3 起螢幕直插板上母座、v1.4 起快門在上板邊側按，兩版都是為了相機式 3D 列印外殼（鏡頭正面、螢幕背面、快門頂邊）而改；外殼見第 14、15 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零件分三類：貼好的、插件的、板外的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59" y="164592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6000" b="1" i="0">
                <a:solidFill>
                  <a:srgbClr val="23A3A3"/>
                </a:solidFill>
                <a:latin typeface="Microsoft JhengHei"/>
                <a:ea typeface="Microsoft JhengHei"/>
                <a:cs typeface="Microsoft JhengHei"/>
              </a:rPr>
              <a:t>58</a:t>
            </a:r>
            <a:r>
              <a:rPr sz="14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  顆 SMD · 32 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JLCPCB 貼好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375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上傳 BOM 與 CPL 即可，料號已填在 BOM 內。電阻電容全是 Basic Part，其餘是模組與連接器。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571999" y="164592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1999" y="19659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6000" b="1" i="0">
                <a:solidFill>
                  <a:srgbClr val="E0A021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r>
              <a:rPr sz="14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  顆插件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971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Economic 自己焊，Standard 代焊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3375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J4 電池座、J5 1×7 螢幕母座。J4 一定要焊才能接電池，J5 要焊才能插螢幕。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321040" y="164592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60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  <a:r>
              <a:rPr sz="14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  項板外零件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71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一律自己買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375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相機模組、1.3 吋螢幕、鋰電池、microSD 卡、USB-C 線、M2×25 螺絲、3D 列印外殼三件。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PCBA 方案怎麼選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4800600"/>
          <a:ext cx="11064240" cy="1152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4526280"/>
                <a:gridCol w="45262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Economic 只焊 SMD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Standard 含插件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JLCPCB 焊什麼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 顆 SMD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 顆 SMD + J4、J5 兩顆插件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自己要做什麼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買 J4 電池座與 J5 母座回來手焊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不用買插件，收到板子接電池、插螢幕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頂面 Top · F.Cu · 30 顆 SMD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依實際 PCB 座標繪製。粉紅色為板外零件的位置示意。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417320"/>
            <a:ext cx="3324112" cy="4709160"/>
          </a:xfrm>
          <a:prstGeom prst="roundRect">
            <a:avLst>
              <a:gd name="adj" fmla="val 2000"/>
            </a:avLst>
          </a:prstGeom>
          <a:solidFill>
            <a:srgbClr val="2F5D46"/>
          </a:solidFill>
          <a:ln w="12700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959620" y="5544760"/>
            <a:ext cx="3268711" cy="554018"/>
          </a:xfrm>
          <a:prstGeom prst="rect">
            <a:avLst/>
          </a:prstGeom>
          <a:solidFill>
            <a:srgbClr val="24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0" y="5738666"/>
            <a:ext cx="3324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ANTENNA KEEPOUT</a:t>
            </a:r>
          </a:p>
        </p:txBody>
      </p:sp>
      <p:sp>
        <p:nvSpPr>
          <p:cNvPr id="7" name="Oval 6"/>
          <p:cNvSpPr/>
          <p:nvPr/>
        </p:nvSpPr>
        <p:spPr>
          <a:xfrm>
            <a:off x="4092585" y="1577985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973483" y="1577985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092585" y="5289911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973483" y="5289911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774036" y="2453335"/>
            <a:ext cx="509697" cy="587259"/>
          </a:xfrm>
          <a:prstGeom prst="rect">
            <a:avLst/>
          </a:prstGeom>
          <a:solidFill>
            <a:srgbClr val="23A3A3"/>
          </a:solidFill>
          <a:ln w="635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J1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9819" y="1611226"/>
            <a:ext cx="1008314" cy="437674"/>
          </a:xfrm>
          <a:prstGeom prst="rect">
            <a:avLst/>
          </a:prstGeom>
          <a:solidFill>
            <a:srgbClr val="23A3A3"/>
          </a:solidFill>
          <a:ln w="635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J2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4555" y="2102918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217243" y="2115383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 rot="5400000">
            <a:off x="6519672" y="1743760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 rot="5400000">
            <a:off x="6109213" y="1881310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 rot="5400000">
            <a:off x="6120294" y="2087682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 rot="5400000">
            <a:off x="6519187" y="2170785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 rot="5400000">
            <a:off x="6109213" y="2324525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 rot="5400000">
            <a:off x="6120294" y="253089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663224" y="164446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86215" y="164446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236630" y="2065522"/>
            <a:ext cx="166205" cy="144044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Q1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8496" y="3500430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768496" y="3722038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663224" y="1866075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86215" y="1866075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552421" y="2087682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552421" y="2253888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286492" y="3046135"/>
            <a:ext cx="288089" cy="288089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SW1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86492" y="2602920"/>
            <a:ext cx="288089" cy="288089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SW2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11112" y="1481328"/>
            <a:ext cx="246888" cy="146304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SW3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95359" y="4505974"/>
            <a:ext cx="997233" cy="1412748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U1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9715" y="3228961"/>
            <a:ext cx="166205" cy="144044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U4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6500" y="1650007"/>
            <a:ext cx="166205" cy="144044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U5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6500" y="2120923"/>
            <a:ext cx="166205" cy="144044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U6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5505" y="1841144"/>
            <a:ext cx="155125" cy="37119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SW4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23898" y="1849454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823898" y="2015660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344668" y="2553058"/>
            <a:ext cx="498616" cy="498616"/>
          </a:xfrm>
          <a:prstGeom prst="roundRect">
            <a:avLst>
              <a:gd name="adj" fmla="val 8000"/>
            </a:avLst>
          </a:prstGeom>
          <a:solidFill>
            <a:srgbClr val="D1467F"/>
          </a:solidFill>
          <a:ln w="6350">
            <a:solidFill>
              <a:srgbClr val="92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416690" y="2625081"/>
            <a:ext cx="354572" cy="354572"/>
          </a:xfrm>
          <a:prstGeom prst="ellipse">
            <a:avLst/>
          </a:prstGeom>
          <a:solidFill>
            <a:srgbClr val="EEF1EC"/>
          </a:solidFill>
          <a:ln w="9525">
            <a:solidFill>
              <a:srgbClr val="92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5499793" y="2708183"/>
            <a:ext cx="188366" cy="188366"/>
          </a:xfrm>
          <a:prstGeom prst="ellipse">
            <a:avLst/>
          </a:prstGeom>
          <a:solidFill>
            <a:srgbClr val="92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5206163" y="1777432"/>
            <a:ext cx="775626" cy="775626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146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548640" y="145389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8096" y="14173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JLCPCB 貼好（SMD）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172821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68096" y="16916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板外零件，自己買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2286000"/>
            <a:ext cx="3017520" cy="12344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58368" y="235915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OV2640 相機模組 → J2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2633472"/>
            <a:ext cx="27980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排線從 J2 出來後反折 180°，模組貼回板面、鏡頭朝上，底下墊 2 mm 泡棉膠。落在按鍵那一欄與 U4 之間的空區，鏡頭中心 (30, 25)。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566160" y="2743200"/>
            <a:ext cx="1778508" cy="59167"/>
          </a:xfrm>
          <a:prstGeom prst="line">
            <a:avLst/>
          </a:prstGeom>
          <a:ln w="12700">
            <a:solidFill>
              <a:srgbClr val="D14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48640" y="3703320"/>
            <a:ext cx="3017520" cy="8686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" y="377647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M2 × 25 螺絲 × 4 → H1–H4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4050791"/>
            <a:ext cx="2798063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四角 Ø2.2 定位孔。外殼的 M2×25 螺絲從背面穿過立柱與板子，鎖進前殼。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3566160" y="1712079"/>
            <a:ext cx="514215" cy="2311281"/>
          </a:xfrm>
          <a:prstGeom prst="line">
            <a:avLst/>
          </a:prstGeom>
          <a:ln w="12700">
            <a:solidFill>
              <a:srgbClr val="D14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48640" y="4754880"/>
            <a:ext cx="3017520" cy="8686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58368" y="482803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3D 列印外殼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02352"/>
            <a:ext cx="2798063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相機式兩片殼：鏡頭孔對 (30, 25)，快門帽在上牆，BOOT / RESET 針孔。見第 14、15 頁。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2011680"/>
            <a:ext cx="3200400" cy="10058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522207" y="208483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USB-C 線 → J1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22207" y="2359152"/>
            <a:ext cx="29809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燒錄與充電。J1 母座開口朝右板邊，要用能傳資料的線。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7302021" y="2514600"/>
            <a:ext cx="1110459" cy="232365"/>
          </a:xfrm>
          <a:prstGeom prst="line">
            <a:avLst/>
          </a:prstGeom>
          <a:ln w="12700">
            <a:solidFill>
              <a:srgbClr val="D14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8412480" y="3246120"/>
            <a:ext cx="3200400" cy="13716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522207" y="331927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v1.4：SW3 快門移到上板邊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22207" y="3593591"/>
            <a:ext cx="298094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側按式 ALPS SKRTLAE010，觸桿朝上板邊伸出，由外殼上牆的快門帽按。旁邊仍是 SW4 電源開關與 D5 藍燈。左欄只剩 SW1 BOOT、SW2 RESET。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876288" y="1572768"/>
            <a:ext cx="1536191" cy="2039112"/>
          </a:xfrm>
          <a:prstGeom prst="line">
            <a:avLst/>
          </a:prstGeom>
          <a:ln w="12700">
            <a:solidFill>
              <a:srgbClr val="0D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412480" y="4846320"/>
            <a:ext cx="3200400" cy="12344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522207" y="491947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U1 ESP32-S3-WROOM-1-N16R8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22207" y="5193792"/>
            <a:ext cx="29809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模組天線端懸在下方深綠色淨空區，那一帶不放任何零件。</a:t>
            </a:r>
          </a:p>
        </p:txBody>
      </p:sp>
      <p:cxnSp>
        <p:nvCxnSpPr>
          <p:cNvPr id="70" name="Connector 69"/>
          <p:cNvCxnSpPr/>
          <p:nvPr/>
        </p:nvCxnSpPr>
        <p:spPr>
          <a:xfrm flipH="1" flipV="1">
            <a:off x="6103673" y="5212348"/>
            <a:ext cx="2308807" cy="182612"/>
          </a:xfrm>
          <a:prstGeom prst="line">
            <a:avLst/>
          </a:prstGeom>
          <a:ln w="12700">
            <a:solidFill>
              <a:srgbClr val="0D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底面 Bottom · B.Cu · 28 顆 SMD + 2 插件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從底面看，已左右鏡像，與 KiCad 3D 檢視及 JLCPCB 預覽的 Bottom 一致。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417320"/>
            <a:ext cx="3324112" cy="4709160"/>
          </a:xfrm>
          <a:prstGeom prst="roundRect">
            <a:avLst>
              <a:gd name="adj" fmla="val 2000"/>
            </a:avLst>
          </a:prstGeom>
          <a:solidFill>
            <a:srgbClr val="2F5D46"/>
          </a:solidFill>
          <a:ln w="12700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959620" y="5544760"/>
            <a:ext cx="3268711" cy="554018"/>
          </a:xfrm>
          <a:prstGeom prst="rect">
            <a:avLst/>
          </a:prstGeom>
          <a:solidFill>
            <a:srgbClr val="24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0" y="5738666"/>
            <a:ext cx="3324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ANTENNA KEEPOUT</a:t>
            </a:r>
          </a:p>
        </p:txBody>
      </p:sp>
      <p:sp>
        <p:nvSpPr>
          <p:cNvPr id="7" name="Oval 6"/>
          <p:cNvSpPr/>
          <p:nvPr/>
        </p:nvSpPr>
        <p:spPr>
          <a:xfrm>
            <a:off x="6973483" y="1577985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092585" y="1577985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973483" y="5289911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092585" y="5289911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58799" y="3417327"/>
            <a:ext cx="1252082" cy="869809"/>
          </a:xfrm>
          <a:prstGeom prst="rect">
            <a:avLst/>
          </a:prstGeom>
          <a:solidFill>
            <a:srgbClr val="23A3A3"/>
          </a:solidFill>
          <a:ln w="635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J3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2705" y="4730352"/>
            <a:ext cx="387813" cy="304710"/>
          </a:xfrm>
          <a:prstGeom prst="rect">
            <a:avLst/>
          </a:prstGeom>
          <a:solidFill>
            <a:srgbClr val="E0A021"/>
          </a:solidFill>
          <a:ln w="6350">
            <a:solidFill>
              <a:srgbClr val="8A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J4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3710" y="3421684"/>
            <a:ext cx="140817" cy="986637"/>
          </a:xfrm>
          <a:prstGeom prst="rect">
            <a:avLst/>
          </a:prstGeom>
          <a:solidFill>
            <a:srgbClr val="E0A021"/>
          </a:solidFill>
          <a:ln w="6350">
            <a:solidFill>
              <a:srgbClr val="8A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J5</a:t>
            </a:r>
          </a:p>
        </p:txBody>
      </p:sp>
      <p:sp>
        <p:nvSpPr>
          <p:cNvPr id="15" name="Rectangle 14"/>
          <p:cNvSpPr/>
          <p:nvPr/>
        </p:nvSpPr>
        <p:spPr>
          <a:xfrm rot="5400000">
            <a:off x="4264331" y="370541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206163" y="4263591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995636" y="427605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762948" y="4263591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552421" y="427605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873752" y="5039218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663224" y="5051683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663224" y="4830075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 rot="5400000">
            <a:off x="5206163" y="3155554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 rot="5400000">
            <a:off x="5438851" y="338962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275411" y="2170785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217239" y="1871615"/>
            <a:ext cx="204986" cy="88643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D3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2836" y="3505970"/>
            <a:ext cx="166205" cy="144044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Q2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28047" y="1949178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106439" y="1949178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441617" y="3278823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884832" y="4830075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884832" y="4608468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663224" y="4608468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771262" y="4165253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549654" y="4165253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 rot="5400000">
            <a:off x="5438851" y="2724804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 rot="5400000">
            <a:off x="5438851" y="2946411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 rot="5400000">
            <a:off x="5438851" y="3168019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 rot="5400000">
            <a:off x="5217243" y="2724804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 rot="5400000">
            <a:off x="5217243" y="2946411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402836" y="3838382"/>
            <a:ext cx="166205" cy="144044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U2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52144" y="1777432"/>
            <a:ext cx="332411" cy="277009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U3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145389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8096" y="14173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JLCPCB 貼好（SMD）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172821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68096" y="1691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插件，Economic 要自己焊（J4、J5）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200253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68096" y="19659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板外零件，自己買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41340" y="2746965"/>
            <a:ext cx="1662056" cy="2216075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D146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41340" y="2792685"/>
            <a:ext cx="1662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D1467F"/>
                </a:solidFill>
                <a:latin typeface="Consolas"/>
                <a:ea typeface="Microsoft JhengHei"/>
                <a:cs typeface="Microsoft JhengHei"/>
              </a:rPr>
              <a:t>LiPo 603040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2377440"/>
            <a:ext cx="3017520" cy="10058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58368" y="245059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電源電路在這一角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2724912"/>
            <a:ext cx="279806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U3 TP4056 充電、D3 B5819W、U2 3.3V LDO、Q2 MOSFET 與 R21 EN 上拉。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3566160" y="1915936"/>
            <a:ext cx="1085984" cy="827264"/>
          </a:xfrm>
          <a:prstGeom prst="line">
            <a:avLst/>
          </a:prstGeom>
          <a:ln w="12700">
            <a:solidFill>
              <a:srgbClr val="0D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48640" y="3566160"/>
            <a:ext cx="3017520" cy="12344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58368" y="363931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3.7V 鋰電池 → J4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3913632"/>
            <a:ext cx="27980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JST PH 2.0 插頭、帶保護板。603040（30 × 40 × 6 mm）墊 2 mm 泡棉貼在底面中央 (34, 44)。收到先量極性，pin 1 = 正極。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3566160" y="3855002"/>
            <a:ext cx="975180" cy="259798"/>
          </a:xfrm>
          <a:prstGeom prst="line">
            <a:avLst/>
          </a:prstGeom>
          <a:ln w="12700">
            <a:solidFill>
              <a:srgbClr val="D14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48640" y="4983480"/>
            <a:ext cx="3017520" cy="11887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8A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58368" y="505663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5F06"/>
                </a:solidFill>
                <a:latin typeface="Microsoft JhengHei"/>
                <a:ea typeface="Microsoft JhengHei"/>
                <a:cs typeface="Microsoft JhengHei"/>
              </a:rPr>
              <a:t>J5 螢幕母座（插件）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5330952"/>
            <a:ext cx="2798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1×7 2.54 mm 立式母座 C225482。螢幕模組自帶的排針直插；腳序 GND 3V3 SCL SDA RES DC BLK，方形 pin 1 靠天線端。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3566160" y="3931920"/>
            <a:ext cx="521207" cy="1508760"/>
          </a:xfrm>
          <a:prstGeom prst="line">
            <a:avLst/>
          </a:prstGeom>
          <a:ln w="12700">
            <a:solidFill>
              <a:srgbClr val="8A5F0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8412480" y="2011680"/>
            <a:ext cx="3200400" cy="13258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8A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522207" y="208483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5F06"/>
                </a:solidFill>
                <a:latin typeface="Microsoft JhengHei"/>
                <a:ea typeface="Microsoft JhengHei"/>
                <a:cs typeface="Microsoft JhengHei"/>
              </a:rPr>
              <a:t>J4 電池座（插件）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22207" y="2359152"/>
            <a:ext cx="298094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JST PH 2.0 mm 2P 立式座。L 形絲印那側是 pin 1（VBAT +），靠板子中央；pin 2 GND 靠板邊。</a:t>
            </a:r>
          </a:p>
        </p:txBody>
      </p:sp>
      <p:cxnSp>
        <p:nvCxnSpPr>
          <p:cNvPr id="66" name="Connector 65"/>
          <p:cNvCxnSpPr/>
          <p:nvPr/>
        </p:nvCxnSpPr>
        <p:spPr>
          <a:xfrm flipH="1">
            <a:off x="6840518" y="2651760"/>
            <a:ext cx="1571962" cy="2228177"/>
          </a:xfrm>
          <a:prstGeom prst="line">
            <a:avLst/>
          </a:prstGeom>
          <a:ln w="12700">
            <a:solidFill>
              <a:srgbClr val="8A5F0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412480" y="3566160"/>
            <a:ext cx="3200400" cy="9144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522207" y="363931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microSD 卡 → J3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22207" y="3913632"/>
            <a:ext cx="29809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8–32 GB，金手指朝板子插入，卡槽開口朝這一側的板邊。</a:t>
            </a:r>
          </a:p>
        </p:txBody>
      </p:sp>
      <p:cxnSp>
        <p:nvCxnSpPr>
          <p:cNvPr id="70" name="Connector 69"/>
          <p:cNvCxnSpPr/>
          <p:nvPr/>
        </p:nvCxnSpPr>
        <p:spPr>
          <a:xfrm flipH="1" flipV="1">
            <a:off x="7510881" y="3855002"/>
            <a:ext cx="901599" cy="76918"/>
          </a:xfrm>
          <a:prstGeom prst="line">
            <a:avLst/>
          </a:prstGeom>
          <a:ln w="12700">
            <a:solidFill>
              <a:srgbClr val="D14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8412480" y="4709160"/>
            <a:ext cx="3200400" cy="12344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522207" y="478231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1.3 吋預覽螢幕 → J5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22207" y="5056632"/>
            <a:ext cx="29809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直插母座、亮面朝外，身體蓋在電池上方；模組背面離板底 11.0 mm，亮面約 13.9 mm。外殼四支定位柱插進它四角的 Ø2 孔。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JLCPCB 貼好：58 顆 SMD · 32 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上傳 fab/esp32s3-camera-bom.csv 與 CPL 即可，料號已填在 BOM 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板上零件清單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0350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U1 ESP32-S3-WROOM-1-N16R8 模組 C2913202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U2 AP2112K 3.3V LDO；U5 2.8V、U6 1.2V LDO 供相機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U3 TP4056 充電；U4 USBLC6 ESD；Q1 Q2 MOSFET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J1 USB-C 座；J2 24P FPC 座；J3 microSD 座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SW1 BOOT、SW2 RESET 頂按式；SW3 快門 側按式 ALPS SKRTLAE010 C110293（v1.4）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SW4 電源滑動開關 C431540；D5 藍色電源燈 C2288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D1 D2 D4 LED；D3 B5819W C8598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21 顆電阻、17 顆電容，全部 Basic Part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6035040" cy="10058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配對頁要看的料號：U1 C2913202（N16R8 模組，可能預購）、D3 C8598（SOD-123，不是 SS14）、SW4 C431540、SW3 C110293（側按快門，不要被換成頂按式）。逐行確認有貨。</a:t>
            </a:r>
          </a:p>
        </p:txBody>
      </p:sp>
      <p:pic>
        <p:nvPicPr>
          <p:cNvPr id="9" name="Picture 8" descr="iso-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487" y="1417320"/>
            <a:ext cx="4581625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0" y="457200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裸板貼片後的頂面：兩顆按鍵、FPC 座、上板邊的側按快門、ESP32 模組與天線淨空區</a:t>
            </a:r>
          </a:p>
        </p:txBody>
      </p:sp>
      <p:pic>
        <p:nvPicPr>
          <p:cNvPr id="11" name="Picture 10" descr="closeup-po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937760"/>
            <a:ext cx="2112784" cy="1325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89720" y="498348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右上角特寫：v1.4 的側按快門 SW3 在上板邊，SW4 電源開關、D5 藍燈在旁邊，一起由 JLCPCB 貼好。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插件兩顆：Economic 自己焊，Standard 由 JLCPCB 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8132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兩顆通孔零件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6583680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3108960"/>
                <a:gridCol w="128016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Ref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零件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料號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JST PH 2.0 mm 2P 立式電池座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C131337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接鋰電池，必要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螢幕母座 1×7 2.54 mm 立式（CJT A2541WV-7P）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C225482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插 1.3 吋螢幕，v1.3 起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65760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5F06"/>
                </a:solidFill>
                <a:latin typeface="Microsoft JhengHei"/>
                <a:ea typeface="Microsoft JhengHei"/>
                <a:cs typeface="Microsoft JhengHei"/>
              </a:rPr>
              <a:t>Economic 只焊 SMD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這兩顆會被略過，要自己買回來手焊。J4 一定要焊才能接電池；J5 要焊才能插螢幕，母座買 8.5 mm 高的標準款。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365760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160520" y="3794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Standard 含插件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2062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含插件焊接，這兩顆 JLCPCB 會一起焊好，不用自己買。收到板子接上電池、插上螢幕就能開機。</a:t>
            </a:r>
          </a:p>
        </p:txBody>
      </p:sp>
      <p:pic>
        <p:nvPicPr>
          <p:cNvPr id="12" name="Picture 11" descr="closeup-j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38452"/>
            <a:ext cx="4160520" cy="29752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79" y="448056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J4 電池座，從底面看。</a:t>
            </a:r>
            <a:r>
              <a:rPr sz="11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左上角 L 形絲印記號那一側是 pin 1（電池正極 VBAT），另一腳是 GND。</a:t>
            </a:r>
          </a:p>
        </p:txBody>
      </p:sp>
      <p:pic>
        <p:nvPicPr>
          <p:cNvPr id="14" name="Picture 13" descr="low-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5132769"/>
            <a:ext cx="2011680" cy="11187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0" y="5166360"/>
            <a:ext cx="2103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低角度側視：底面的 J5 母座（8.5 mm）是板上最高的插件。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板外零件 7 項：一律自己買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44752"/>
            <a:ext cx="384048" cy="384048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OV2640 相機模組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0992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24 pin 0.5 mm 排線，ESP32-CAM 相容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4356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2285A"/>
                </a:solidFill>
                <a:latin typeface="Consolas"/>
                <a:ea typeface="Microsoft JhengHei"/>
                <a:cs typeface="Microsoft JhengHei"/>
              </a:rPr>
              <a:t>→ J2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84831"/>
            <a:ext cx="384048" cy="384048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084831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1.3 吋 ST7789 螢幕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500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IPS 240×240，7 pin 直排針已焊，直插母座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075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2285A"/>
                </a:solidFill>
                <a:latin typeface="Consolas"/>
                <a:ea typeface="Microsoft JhengHei"/>
                <a:cs typeface="Microsoft JhengHei"/>
              </a:rPr>
              <a:t>→ J5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272491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9748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3.7V 鋰電池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900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JST PH 2.0 插頭，帶保護板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7157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2285A"/>
                </a:solidFill>
                <a:latin typeface="Consolas"/>
                <a:ea typeface="Microsoft JhengHei"/>
                <a:cs typeface="Microsoft JhengHei"/>
              </a:rPr>
              <a:t>→ J4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364991"/>
            <a:ext cx="384048" cy="384048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3364991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337559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microSD 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630167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8–32 GB，Class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35584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2285A"/>
                </a:solidFill>
                <a:latin typeface="Consolas"/>
                <a:ea typeface="Microsoft JhengHei"/>
                <a:cs typeface="Microsoft JhengHei"/>
              </a:rPr>
              <a:t>→ J3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005072"/>
            <a:ext cx="384048" cy="384048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" y="40050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977639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USB-C 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702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要能傳資料，不要只能充電的線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99592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2285A"/>
                </a:solidFill>
                <a:latin typeface="Consolas"/>
                <a:ea typeface="Microsoft JhengHei"/>
                <a:cs typeface="Microsoft JhengHei"/>
              </a:rPr>
              <a:t>→ J1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4645152"/>
            <a:ext cx="384048" cy="384048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27"/>
          <p:cNvSpPr/>
          <p:nvPr/>
        </p:nvSpPr>
        <p:spPr>
          <a:xfrm>
            <a:off x="548640" y="5285232"/>
            <a:ext cx="384048" cy="384048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8640" y="46451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9" name="TextBox 28"/>
          <p:cNvSpPr txBox="1"/>
          <p:nvPr/>
        </p:nvSpPr>
        <p:spPr>
          <a:xfrm>
            <a:off x="548640" y="528523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61772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M2 × 25 盤頭螺絲 × 4</a:t>
            </a:r>
          </a:p>
        </p:txBody>
      </p:sp>
      <p:sp>
        <p:nvSpPr>
          <p:cNvPr id="40" name="TextBox 29"/>
          <p:cNvSpPr txBox="1"/>
          <p:nvPr/>
        </p:nvSpPr>
        <p:spPr>
          <a:xfrm>
            <a:off x="1097280" y="525780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3D 列印外殼三件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91032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從外殼背面鎖穿立柱與板子</a:t>
            </a:r>
          </a:p>
        </p:txBody>
      </p:sp>
      <p:sp>
        <p:nvSpPr>
          <p:cNvPr id="41" name="TextBox 30"/>
          <p:cNvSpPr txBox="1"/>
          <p:nvPr/>
        </p:nvSpPr>
        <p:spPr>
          <a:xfrm>
            <a:off x="1097280" y="55504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前殼、後殼、快門帽；STL 在 enclosure/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52160"/>
            <a:ext cx="5577840" cy="50292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58978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相機排線容易折壞，建議多買一條備用。電池插頭極性沒有統一規範，收到先量。</a:t>
            </a:r>
          </a:p>
        </p:txBody>
      </p:sp>
      <p:pic>
        <p:nvPicPr>
          <p:cNvPr id="34" name="Picture 33" descr="assembled-iso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003" y="1417320"/>
            <a:ext cx="5255393" cy="35661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00800" y="5029200"/>
            <a:ext cx="5257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組裝完成，底面。603040 鋰電池墊泡棉貼在底面中央，黃色膠帶端是保護板；1.3 吋 ST7789 螢幕直接插在右板邊的 J5 母座上、蓋在電池上方；microSD 卡插在 J3。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組裝完成示意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相機排線插進 J2 後反折 180° 讓模組貼回板面；microSD 卡插 J3；鋰電池墊在底面；螢幕直插 J5 母座朝外。相機、記憶卡、電池、螢幕與側按快門是依實際尺寸畫的簡化模型，其餘是 KiCad 庫原廠 3D 模型。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611880" cy="452628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assembled-iso-top.png"/>
          <p:cNvPicPr>
            <a:picLocks noChangeAspect="1"/>
          </p:cNvPicPr>
          <p:nvPr/>
        </p:nvPicPr>
        <p:blipFill>
          <a:blip r:embed="rId5"/>
          <a:srcRect l="13514" r="13514"/>
          <a:stretch>
            <a:fillRect/>
          </a:stretch>
        </p:blipFill>
        <p:spPr>
          <a:xfrm>
            <a:off x="658368" y="1801368"/>
            <a:ext cx="3392424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4748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組裝完成，頂面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76672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橘色排線從 J2 出來反折，相機模組躺回板面、鏡頭朝上；左欄只剩兩顆鍵，快門在上板邊右段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4820" y="1691640"/>
            <a:ext cx="3611880" cy="452628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assembled-iso-right.png"/>
          <p:cNvPicPr>
            <a:picLocks noChangeAspect="1"/>
          </p:cNvPicPr>
          <p:nvPr/>
        </p:nvPicPr>
        <p:blipFill>
          <a:blip r:embed="rId6"/>
          <a:srcRect l="13514" r="13514"/>
          <a:stretch>
            <a:fillRect/>
          </a:stretch>
        </p:blipFill>
        <p:spPr>
          <a:xfrm>
            <a:off x="4384548" y="1801368"/>
            <a:ext cx="3392424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57700" y="504748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從開關那一側看（v1.4）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5376672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螢幕模組插在 J5 母座上、蓋在電池上方；右上角 SW4 電源開關撥桿突出板邊，上板邊是側按快門 SW3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691640"/>
            <a:ext cx="3611880" cy="452628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closeup-camera-module.png"/>
          <p:cNvPicPr>
            <a:picLocks noChangeAspect="1"/>
          </p:cNvPicPr>
          <p:nvPr/>
        </p:nvPicPr>
        <p:blipFill>
          <a:blip r:embed="rId4"/>
          <a:srcRect l="16258" r="16258"/>
          <a:stretch>
            <a:fillRect/>
          </a:stretch>
        </p:blipFill>
        <p:spPr>
          <a:xfrm>
            <a:off x="8110727" y="1801368"/>
            <a:ext cx="3392424" cy="3154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504748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OV2640 相機模組特寫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5376672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排線反折蓋過 J2 後接到模組，模組底下是泡棉膠墊；9 × 9 mm 感光板、8.5 mm 鏡座、Ø6.5 mm 鏡筒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底面就是使用者看的那一面：螢幕朝外，鏡頭在反面</a:t>
            </a:r>
          </a:p>
        </p:txBody>
      </p:sp>
      <p:pic>
        <p:nvPicPr>
          <p:cNvPr id="3" name="Picture 2" descr="assembled-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07218"/>
            <a:ext cx="3931920" cy="49750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0" y="1371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底面正視（含螢幕）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73736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55625B"/>
              </a:buClr>
              <a:buChar char="•"/>
            </a:pPr>
            <a:r>
              <a:rPr sz="11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螢幕模組的 7 pin 直排針插進右板邊的 J5 母座，亮面朝外，沒有任何線。腳序一對一：GND、3V3、SCL (GPIO44)、SDA (GPIO43)、RES (GPIO6)、DC (GPIO5)、BLK (GPIO4)。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55625B"/>
              </a:buClr>
              <a:buChar char="•"/>
            </a:pPr>
            <a:r>
              <a:rPr sz="11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模組投影 x 19.3–58.5、y 31.1–58.9；四角 Ø2 孔在 (21.8, 33.6)、(56, 33.6)、(21.8, 56.4)、(56, 56.4)，套進外殼後殼的四支定位柱。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55625B"/>
              </a:buClr>
              <a:buChar char="•"/>
            </a:pPr>
            <a:r>
              <a:rPr sz="11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有效顯示區 23.4 × 23.4，中心約 (40.5, 45)，外殼螢幕窗對這裡。</a:t>
            </a:r>
          </a:p>
        </p:txBody>
      </p:sp>
      <p:pic>
        <p:nvPicPr>
          <p:cNvPr id="6" name="Picture 5" descr="assembled-bottom-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79" y="1347690"/>
            <a:ext cx="3703320" cy="20594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347472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底面低角度，看高度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55279" y="3840480"/>
          <a:ext cx="3703319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187451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高度 / 距離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電池 + 泡棉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J5 母座 + 模組排針塑膠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8.5 + 2.54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模組 PCB 背面 → 亮面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11.0 → 約 13.9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電池頂到模組背面 / 外殼底側內深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mm / 14.5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663440" y="4297680"/>
            <a:ext cx="3108960" cy="19202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92040" y="4434840"/>
            <a:ext cx="26517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外殼開孔位置：鏡頭 (30, 25) 頂面、快門上板邊 x 47.6–53.6、BOOT / RESET 針孔 (9, 24) (9, 32)、開關右板邊 y 8–14、USB-C 右板邊、記憶卡左板邊、螢幕窗 23.4 × 23.4 中心 (40.5, 45)。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相機模組落點與鏡頭中心</a:t>
            </a:r>
          </a:p>
        </p:txBody>
      </p:sp>
      <p:pic>
        <p:nvPicPr>
          <p:cNvPr id="3" name="Picture 2" descr="assembled-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307218"/>
            <a:ext cx="3931920" cy="49750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0" y="137160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頂面正視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737360"/>
            <a:ext cx="6949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55625B"/>
              </a:buClr>
              <a:buChar char="•"/>
            </a:pPr>
            <a:r>
              <a:rPr sz="12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模組落在 x 25.5–34.5、y 20.5–29.5 mm 的空區，鏡頭中心 (30, 25)，外殼鏡頭孔與 Ø16 鏡座環對這個位置。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55625B"/>
              </a:buClr>
              <a:buChar char="•"/>
            </a:pPr>
            <a:r>
              <a:rPr sz="12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排線長度不同，落點會前後移；底下墊一塊約 2 mm 厚、8 × 8 mm 的雙面泡棉膠，不再懸出板邊。</a:t>
            </a:r>
          </a:p>
        </p:txBody>
      </p:sp>
      <p:pic>
        <p:nvPicPr>
          <p:cNvPr id="6" name="Picture 5" descr="assembled-iso-r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058341"/>
            <a:ext cx="3383280" cy="20860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5623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上板邊右段：側按快門 SW3 觸桿朝板邊，SW4 撥桿突出右板邊，D5 藍燈在旁邊。</a:t>
            </a:r>
          </a:p>
        </p:txBody>
      </p:sp>
      <p:pic>
        <p:nvPicPr>
          <p:cNvPr id="8" name="Picture 7" descr="closeup-camera-mo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144649"/>
            <a:ext cx="3383280" cy="21231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5623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相機模組特寫：實品鏡片會有藍紫色鍍膜反光。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裸板貼片後的 3D 渲染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只有 JLCPCB 出貨時板上會有的零件，沒有板外零件。用 KiCad 10 光線追蹤引擎從 v1.4 板檔輸出。</a:t>
            </a:r>
          </a:p>
        </p:txBody>
      </p:sp>
      <p:pic>
        <p:nvPicPr>
          <p:cNvPr id="4" name="Picture 3" descr="iso-t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1692129"/>
            <a:ext cx="3502152" cy="23764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160520"/>
            <a:ext cx="35021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頂面立體。相機 FPC 座在上緣，快門在上緣右段，模組天線端懸在下方淨空區。</a:t>
            </a:r>
          </a:p>
        </p:txBody>
      </p:sp>
      <p:pic>
        <p:nvPicPr>
          <p:cNvPr id="6" name="Picture 5" descr="iso-botto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1376" y="1692129"/>
            <a:ext cx="3502152" cy="23764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51376" y="4160520"/>
            <a:ext cx="35021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底面立體。microSD 座、JST 電池座與 J5 螢幕母座都在這一面。</a:t>
            </a:r>
          </a:p>
        </p:txBody>
      </p:sp>
      <p:pic>
        <p:nvPicPr>
          <p:cNvPr id="8" name="Picture 7" descr="to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4112" y="1694439"/>
            <a:ext cx="1874519" cy="2371841"/>
          </a:xfrm>
          <a:prstGeom prst="rect">
            <a:avLst/>
          </a:prstGeom>
        </p:spPr>
      </p:pic>
      <p:pic>
        <p:nvPicPr>
          <p:cNvPr id="9" name="Picture 8" descr="botto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29216" y="1694439"/>
            <a:ext cx="1874519" cy="23718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54112" y="4160520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頂面 / 底面正視。</a:t>
            </a: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與 JLCPCB 預覽的 Top / Bottom 對應，底面已鏡像。</a:t>
            </a:r>
          </a:p>
        </p:txBody>
      </p:sp>
      <p:pic>
        <p:nvPicPr>
          <p:cNvPr id="11" name="Picture 10" descr="low-ang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4848186"/>
            <a:ext cx="2377440" cy="13221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17520" y="48920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低角度側視。底面的母座是最高的插件。</a:t>
            </a:r>
          </a:p>
        </p:txBody>
      </p:sp>
      <p:pic>
        <p:nvPicPr>
          <p:cNvPr id="13" name="Picture 12" descr="closeup-camer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4846483"/>
            <a:ext cx="2112264" cy="132555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0" y="489204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相機接頭特寫。</a:t>
            </a:r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J2 掀蓋式 24P 座，右側 U5、U6 供相機電源。</a:t>
            </a:r>
          </a:p>
        </p:txBody>
      </p:sp>
      <p:pic>
        <p:nvPicPr>
          <p:cNvPr id="15" name="Picture 14" descr="closeup-us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79" y="4846483"/>
            <a:ext cx="2112264" cy="13255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78440" y="48920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USB-C 區。</a:t>
            </a:r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J1 開口朝板邊，下方 U4 是 ESD 保護。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v1.4 重點特寫：側按快門、電源開關、USB-C、電池座</a:t>
            </a:r>
          </a:p>
        </p:txBody>
      </p:sp>
      <p:pic>
        <p:nvPicPr>
          <p:cNvPr id="3" name="Picture 2" descr="closeup-po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73" y="1325880"/>
            <a:ext cx="5245533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66344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側按快門與電源開關（v1.4）。SW3 ALPS SKRTLAE010 在上板邊右段 (50.6, 2.6)，觸桿朝板邊伸出，外殼上牆的快門帽壓它；兩個 pad 1 用細線連通，GND 走板邊過孔。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SW4 撥桿朝右板邊，絲印 ON / OFF：撥向板子上緣是 OFF，撥向模組是 ON。D5 藍燈接 3.3V 開機必亮。</a:t>
            </a:r>
          </a:p>
        </p:txBody>
      </p:sp>
      <p:pic>
        <p:nvPicPr>
          <p:cNvPr id="5" name="Picture 4" descr="closeup-us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14" y="1325880"/>
            <a:ext cx="3642731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365760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USB-C 區特寫。</a:t>
            </a:r>
            <a:r>
              <a:rPr sz="11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J1 母座開口朝板邊，下方 U4 是 USB ESD 保護。</a:t>
            </a:r>
          </a:p>
        </p:txBody>
      </p:sp>
      <p:pic>
        <p:nvPicPr>
          <p:cNvPr id="7" name="Picture 6" descr="closeup-j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263921"/>
            <a:ext cx="2651759" cy="18963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98280" y="4297680"/>
            <a:ext cx="25603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J4 電池座，從底面看。</a:t>
            </a:r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以底面朝自己、天線那端朝下來看，pin 1（VBAT +）在左邊、靠板子中央；pin 2（GND）在右邊、靠板邊。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3D 列印外殼：相機式兩片殼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1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SolidWorks 2024 依板檔座標用腳本建模，組合件放進板子 STEP 與相機模組、電池、記憶卡、螢幕的簡化模型做過干涉檢查（0 件）。整組 65 × 90 × 28.6 mm，壁厚 2 mm，外緣 R2.5 倒圓。</a:t>
            </a:r>
          </a:p>
        </p:txBody>
      </p:sp>
      <p:pic>
        <p:nvPicPr>
          <p:cNvPr id="4" name="Picture 3" descr="enclosure-expl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08760"/>
            <a:ext cx="5852160" cy="3652910"/>
          </a:xfrm>
          <a:prstGeom prst="rect">
            <a:avLst/>
          </a:prstGeom>
        </p:spPr>
      </p:pic>
      <p:pic>
        <p:nvPicPr>
          <p:cNvPr id="5" name="Picture 4" descr="enclosure-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508760"/>
            <a:ext cx="4892040" cy="30536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1208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爆炸圖：左前殼（鏡頭面）、中板子、右後殼（螢幕面）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461772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合起來：頂邊小方塊是快門帽，右側牆是開關槽與 USB-C 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3566160" cy="91440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5577840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53212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前殼 · 鏡頭面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15584"/>
            <a:ext cx="3291840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Ø10 鏡頭孔加 Ø16 凸 1.5 mm 鏡座環；上牆快門窗與 T 形快門帽；BOOT / RESET Ø2 針孔；三個 LED 導光孔；左側握持溝紋；右側牆 USB-C 窗、開關槽加指窪。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5486400"/>
            <a:ext cx="3566160" cy="91440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5577840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553212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後殼 · 螢幕面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5815584"/>
            <a:ext cx="3291840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24.5 × 24.5 螢幕窗外一層 0.8 mm 內縮邊框；左側牆記憶卡槽；四支 Ø5 立柱撐板子；四支 Ø4 定位柱、頂端 Ø1.8 凸柱插進螢幕四角孔。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5486400"/>
            <a:ext cx="3566160" cy="91440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79" y="5577840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7" y="553212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固定與尺寸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815584"/>
            <a:ext cx="3291840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四支 M2 × 25 從後殼沉孔鎖穿立柱與板子，自攻進前殼；後殼唇口對進前殼凹槽。前殼內高 8 mm，後殼內深 14.5 mm；螢幕亮面離板底 13.9 mm。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外殼各面，與怎麼印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1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灰藍色渲染是 SolidWorks 組合件的標準視角；STL、SLDPRT、尺寸依據表在專案 enclosure/，改尺寸改腳本參數重跑即可。</a:t>
            </a:r>
          </a:p>
        </p:txBody>
      </p:sp>
      <p:pic>
        <p:nvPicPr>
          <p:cNvPr id="4" name="Picture 3" descr="enclosure-lens-si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08760"/>
            <a:ext cx="2651760" cy="1655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461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鏡頭面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47872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Ø10 鏡頭孔對 (30, 25)，外圈鏡座環；左欄兩個 Ø2 針孔是 RESET、BOOT；上方三個小孔透 D4 白、D1 綠，右上透 D5 藍。</a:t>
            </a:r>
          </a:p>
        </p:txBody>
      </p:sp>
      <p:pic>
        <p:nvPicPr>
          <p:cNvPr id="7" name="Picture 6" descr="enclosure-screen-si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0420" y="1508760"/>
            <a:ext cx="2651760" cy="1655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60420" y="32461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螢幕面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0420" y="3547872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24.5 × 24.5 螢幕窗壓在模組玻璃邊上、內側貼 0.5 mm 泡棉；四角是 M2 螺絲頭沉孔；左上小孔透 D2 紅色充電燈。</a:t>
            </a:r>
          </a:p>
        </p:txBody>
      </p:sp>
      <p:pic>
        <p:nvPicPr>
          <p:cNvPr id="10" name="Picture 9" descr="enclosure-right-usb-swit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1508760"/>
            <a:ext cx="2651760" cy="1655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32461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右側牆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547872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上：電源開關槽 y 7–15 加 1 mm 深指窪，撥桿只伸出板邊 0.7 mm 所以牆要薄；下：USB-C 窗 y 18.75–29.25、高 4.2 mm。</a:t>
            </a:r>
          </a:p>
        </p:txBody>
      </p:sp>
      <p:pic>
        <p:nvPicPr>
          <p:cNvPr id="13" name="Picture 12" descr="enclosure-left-s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3980" y="1508760"/>
            <a:ext cx="2651760" cy="1655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83980" y="32461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左側牆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3980" y="3547872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記憶卡槽在分模線下方的後殼上，卡插到底仍露出殼外 2 mm 好拔。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11064240" cy="160020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8463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7D8F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8006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列印方向：兩片殼都開口朝下、外面朝上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38928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外緣有 R2.5 倒圓，外面朝下印會讓圓角從近乎水平開始一層層外擴、表面很糙；翻過來讓圓角像圓頂往上收就沒有懸空，鏡座環、溝紋、螢幕邊框也都落在最上面那一面。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代價是殼內柱子變成從天花板往下長：前殼四支柱離床 2 mm，後殼立柱離床 1.6 mm、螢幕定位柱離床 12.6 mm。切片選「只在列印床上生成支撐」加樹狀支撐，支撐只會長在柱子下面。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各牆上的窗與槽都是垂直面上的橋接，不用支撐；快門帽凸緣朝下印。PLA / PETG 皆可，層高 0.2 mm、壁 3 圈；前殼約 20 g、後殼約 29 g。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外殼裝配檢查：板外零件放進去看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1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相機模組與反折排線、電池與電池線、記憶卡、螢幕模組都依文件尺寸建成簡化模型放進 SolidWorks 組合件，和兩片殼一起跑干涉檢查：0 件。殼拿掉或調半透明拍的。</a:t>
            </a:r>
          </a:p>
        </p:txBody>
      </p:sp>
      <p:pic>
        <p:nvPicPr>
          <p:cNvPr id="4" name="Picture 3" descr="fit-front-open-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554480"/>
            <a:ext cx="3566160" cy="22245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048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前殼拿掉：排線反折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橘色 24P 排線從 J2 出來、往板邊 2.5 mm 就以 0.7 mm 半徑反折，貼回板面接到黑色相機模組；反折最外緣離上牆內面 3.8 mm，鏡座頂離天花板 1.1 mm。</a:t>
            </a:r>
          </a:p>
        </p:txBody>
      </p:sp>
      <p:pic>
        <p:nvPicPr>
          <p:cNvPr id="7" name="Picture 6" descr="fit-back-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1554480"/>
            <a:ext cx="3566160" cy="22245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79" y="384048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後殼拿掉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416052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藍色螢幕模組插在 J5 母座上、蓋在銀色電池上方；電池線從尾端繞到 J4 插頭；記憶卡從左板邊露出，正好穿過後殼的卡槽。</a:t>
            </a:r>
          </a:p>
        </p:txBody>
      </p:sp>
      <p:pic>
        <p:nvPicPr>
          <p:cNvPr id="10" name="Picture 9" descr="fit-ghost-b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9" y="1554480"/>
            <a:ext cx="3566160" cy="22245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19" y="384048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前殼半透明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416052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看穿前殼：鏡頭穿出鏡座環、快門帽坐在上牆的窗裡對著開關觸桿、四支柱子壓在板子四角。後殼四支定位柱則穿進螢幕四角的 Ø2 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553212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4864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模型裡刻意沒放的東西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779008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電池底下的泡棉（會包住 1.3 mm 高的零件，放進去只會報假警報）、插在 J4 裡的插頭本體、插在 J3 裡的卡身、母座裡的針腳。相機鏡座原本只離天花板 0.1 mm，所以前殼內高從 7 改成 8 mm。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採購 A · 板子與板上零件：JLCPCB 一次搞定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上傳 fab/JLCPCB-上傳-v1.4/ 內的 gerber zip、BOM、CPL 三個檔。步驟見 fab/JLCPCB-下單清單.md。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下單規格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64240" cy="1682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6583680"/>
                <a:gridCol w="246888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規格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備註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PCB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 × 85 mm、4 層、1.6 mm、1 oz、ENIG 建議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最少 5 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PCBA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Standard（含插件）或 Economic（只焊 SMD），雙面貼片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最少 2 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配對頁要看的料號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U1 C2913202（N16R8 模組，可能預購）、D3 C8598（SOD-123，不是 SS14）、SW4 C431540、SW3 C110293（ALPS SKRTLAE010 側按，不要被換成頂按式）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逐行確認有貨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85876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選 Economic 方案時要自己買並手焊的插件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206240"/>
          <a:ext cx="11064240" cy="12618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5852160"/>
                <a:gridCol w="246888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零件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連結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備註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J4 JST PH 2.0 mm 2P 立式座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2"/>
                        </a:rPr>
                        <a:t>LCSC C131337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電池座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J5 2.54 mm 1×7 立式母座（8.5 mm 高）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3"/>
                        </a:rPr>
                        <a:t>LCSC C225482 CJT A2541WV-7P；或 ICShop／蝦皮任何單排母座 2.54 1×7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螢幕直插用；不要買 90° 或矮款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採購清單 2026-09-23 整理，與 fab/採購清單.md 同步。連結與價格為查詢當日所見，下單前再確認庫存與規格。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採購 B · 板外零件：一律自己買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1247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板外零件清單與購買網址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3200400"/>
                <a:gridCol w="356616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品項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規格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連結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備註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OV2640 相機模組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 pin 0.5 mm 排線，ESP32-CAM 相容，排線約 21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2"/>
                        </a:rPr>
                        <a:t>ICShop OV2640 攝影鏡頭 75°</a:t>
                      </a:r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（NT$110）、</a:t>
                      </a:r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3"/>
                        </a:rPr>
                        <a:t>AliExpress 多焦距／夜視版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排線易折，多買一條。確認是 24P 0.5 mm、ESP32-CAM 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鋰電池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3.7V 單芯，603040 或 503040 約 600 mAh，帶保護板，JST PH 2.0 插頭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4"/>
                        </a:rPr>
                        <a:t>勝特力 503040 600mAh</a:t>
                      </a:r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、</a:t>
                      </a:r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5"/>
                        </a:rPr>
                        <a:t>詠豐電子 503040</a:t>
                      </a:r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、</a:t>
                      </a:r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6"/>
                        </a:rPr>
                        <a:t>ICShop 150mAh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收到先量極性，J4 pin 1 = 正極。換小電池要改 R3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預覽螢幕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通用型 1.3 吋 IPS 240×240 ST7789，7 pin 2.54 mm 直排針已焊，27.78 × 39.22 mm，直插 J5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7"/>
                        </a:rPr>
                        <a:t>AliExpress 1.3" IPS ST7789</a:t>
                      </a:r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、</a:t>
                      </a:r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8"/>
                        </a:rPr>
                        <a:t>AliExpress 另一賣家</a:t>
                      </a:r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；蝦皮搜「1.3吋 IPS 240x240 ST7789 7pin」約 NT$150–220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替代：ICShop Waveshare 1.3inch LCD（NT$225），腳序不同、不能直插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快門帽（外殼零件）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3D 列印，T 形，凸緣 7.6 × 4.0 在牆內、頭露出 1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STL 在 enclosure/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放在前殼上牆的窗裡，蓋殼時被 SW3 觸桿與牆夾住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microSD 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8–32 GB，Class 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任何通路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金手指朝板子插入 J3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USB-C 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要能傳資料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任何通路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燒錄與充電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M2 螺絲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M2 × 25 mm 盤頭 4 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ICShop／蝦皮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從後殼沉孔鎖穿立柱與板子，自攻進前殼；螢幕靠定位柱與窗框固定，不用鎖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雙面泡棉膠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約 2 mm 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五金行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相機模組底下 8 × 8 mm，電池底下 26 × 36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外殼前殼、後殼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3D 列印，PLA/PETG，開口朝下印，前殼約 20 g、後殼約 29 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STL 在 enclosure/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開孔：鏡頭 (30, 25)、快門上板邊、針孔、開關與 USB-C 右板邊、記憶卡左板邊、螢幕窗 23.4 × 23.4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採購 C · 模組缺貨的備案，與最小採購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8132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JLCPCB 的 ESP32-S3 模組缺貨時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6035040" cy="1152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01168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品項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連結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備註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ESP32-S3-WROOM-1-N16R8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2"/>
                        </a:rPr>
                        <a:t>DigiKey 台灣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滿 NT$1400 免運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3"/>
                        </a:rPr>
                        <a:t>ICShop ESP32-S3-WROOM 模組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確認是 N16R8 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6324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買回來用 JLCPCB 的代寄零件（Consigned parts）服務寄給他們，或自己回焊。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94760"/>
            <a:ext cx="6035040" cy="2377440"/>
          </a:xfrm>
          <a:prstGeom prst="roundRect">
            <a:avLst>
              <a:gd name="adj" fmla="val 4000"/>
            </a:avLst>
          </a:prstGeom>
          <a:solidFill>
            <a:srgbClr val="1F3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只想先點亮板子的最小採購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5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OV2640 相機模組</a:t>
            </a:r>
          </a:p>
          <a:p>
            <a:pPr algn="l" marL="201168" indent="-201168">
              <a:spcAft>
                <a:spcPts val="5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3.7V 鋰電池（JST PH 2.0，帶保護板）</a:t>
            </a:r>
          </a:p>
          <a:p>
            <a:pPr algn="l" marL="201168" indent="-201168">
              <a:spcAft>
                <a:spcPts val="5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microSD 卡</a:t>
            </a:r>
          </a:p>
          <a:p>
            <a:pPr algn="l" marL="201168" indent="-201168">
              <a:spcAft>
                <a:spcPts val="5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USB-C 線（能傳資料）</a:t>
            </a:r>
          </a:p>
          <a:p>
            <a:pPr algn="l" marL="201168" indent="-201168">
              <a:spcAft>
                <a:spcPts val="5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Economic 方案再加 J4 電池座；要看畫面再加 1.3 吋螢幕與 J5 母座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48132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78040" y="1417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板外零件實物照片（賣場頁面）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板子本身還沒製作，沒有實拍。板外零件的實物照片在各賣場頁面，直接附連結。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377440"/>
            <a:ext cx="4800600" cy="118872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40880" y="2468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OV2640 相機模組 → J2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761488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黑色方形感光板加一條 24pin 棕色軟排線，鏡頭在正面。排線接觸面朝下插入 J2。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2186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ICShop OV2640 75°</a:t>
            </a:r>
            <a:r>
              <a:rPr sz="10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AliExpress 多焦距</a:t>
            </a:r>
            <a:r>
              <a:rPr sz="10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6"/>
              </a:rPr>
              <a:t>Play Robot ESP32-CAM 含模組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675887"/>
            <a:ext cx="4800600" cy="118872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40880" y="3767327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3.7V 鋰電池 → J4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059935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銀色鋁塑軟包，一端有黃色膠帶包住的保護板，兩線紅黑接白色 JST PH 2.0 插頭。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51713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7"/>
              </a:rPr>
              <a:t>ICShop 2400mAh</a:t>
            </a:r>
            <a:r>
              <a:rPr sz="10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8"/>
              </a:rPr>
              <a:t>ICShop 150mAh</a:t>
            </a:r>
            <a:r>
              <a:rPr sz="10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9"/>
              </a:rPr>
              <a:t>Yahoo 拍賣 950mAh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4974336"/>
            <a:ext cx="4800600" cy="118872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40880" y="5065775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板上連接器的長相（JLCPCB 貼好）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358383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想先知道焊上去是什麼樣子，LCSC 產品頁有實物照。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815583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10"/>
              </a:rPr>
              <a:t>J2 FH12-24S　J3 DM3AT　J1 USB-C 16P　J4 B2B-PH-K-S　J5 A2541WV-7P　SW3 SKRTLAE010　U1 模組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F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mbled-iso-right.png"/>
          <p:cNvPicPr>
            <a:picLocks noChangeAspect="1"/>
          </p:cNvPicPr>
          <p:nvPr/>
        </p:nvPicPr>
        <p:blipFill>
          <a:blip r:embed="rId3"/>
          <a:srcRect l="21952" r="2195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0" y="1005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三個動作，板子就能開機</a:t>
            </a:r>
          </a:p>
        </p:txBody>
      </p:sp>
      <p:sp>
        <p:nvSpPr>
          <p:cNvPr id="5" name="Oval 4"/>
          <p:cNvSpPr/>
          <p:nvPr/>
        </p:nvSpPr>
        <p:spPr>
          <a:xfrm>
            <a:off x="6217920" y="2578608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0" y="257860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5603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JLCPCB 下單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89864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上傳 Gerber、BOM、CPL；在配對頁逐行確認 U1、D3、SW3、SW4 有貨；選 Standard 或 Economic。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3767327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17920" y="376732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749039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自己買板外零件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08736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相機模組、1.3 吋螢幕、鋰電池、microSD 卡、USB-C 線、M2×25 螺絲；Economic 再加 J4、J5。同時把外殼三件印出來。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4956047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7920" y="495604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937759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組裝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527608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接電池前先量極性（J4 pin 1 = 正極）。排線反折讓模組貼回板面，墊 2 mm 泡棉膠。螢幕插 J5 母座、對到 GND 那格，再裝進外殼。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ESP32-S3 Camera · v1.4 · 60 × 85 mm · 4 層 · 2026-09-23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