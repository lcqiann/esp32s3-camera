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csc.com/product-detail/Wire-To-Board-Connector_JST-B2B-PH-K-S-LF-SN_C131337.html" TargetMode="External"/><Relationship Id="rId3" Type="http://schemas.openxmlformats.org/officeDocument/2006/relationships/hyperlink" Target="https://www.icshop.com.tw/products/368020101502" TargetMode="External"/><Relationship Id="rId4" Type="http://schemas.openxmlformats.org/officeDocument/2006/relationships/hyperlink" Target="https://www.lcsc.com/product-detail/PCB-Connectors-Headers-Male-Pins_Shenzhen-Cankemeng-Headers-Pins-1-4P-2-54mm-Straight-line_C124378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cshop.com.tw/products/368030501479" TargetMode="External"/><Relationship Id="rId3" Type="http://schemas.openxmlformats.org/officeDocument/2006/relationships/hyperlink" Target="https://www.aliexpress.us/item/3256802773370193.html" TargetMode="External"/><Relationship Id="rId4" Type="http://schemas.openxmlformats.org/officeDocument/2006/relationships/hyperlink" Target="https://www.100y.com.tw/product/158757" TargetMode="External"/><Relationship Id="rId5" Type="http://schemas.openxmlformats.org/officeDocument/2006/relationships/hyperlink" Target="https://www.yfe2019.com.tw/products/3.7V600mA%E8%81%9A%E5%90%88%E7%89%A9%E9%8B%B0%E9%9B%BB%E6%B1%A0503040-5e8561f5986e57d2.html" TargetMode="External"/><Relationship Id="rId6" Type="http://schemas.openxmlformats.org/officeDocument/2006/relationships/hyperlink" Target="https://www.icshop.com.tw/products/368090500104" TargetMode="External"/><Relationship Id="rId7" Type="http://schemas.openxmlformats.org/officeDocument/2006/relationships/hyperlink" Target="https://www.aliexpress.us/item/2255800033232649.html" TargetMode="External"/><Relationship Id="rId8" Type="http://schemas.openxmlformats.org/officeDocument/2006/relationships/hyperlink" Target="https://www.aliexpress.us/item/2251832694355820.html" TargetMode="External"/><Relationship Id="rId9" Type="http://schemas.openxmlformats.org/officeDocument/2006/relationships/hyperlink" Target="https://www.icshop.com.tw/products/368031700013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igikey.tw/zh/products/detail/espressif-systems/ESP32-S3-WROOM-1-N16R8/16162642" TargetMode="External"/><Relationship Id="rId3" Type="http://schemas.openxmlformats.org/officeDocument/2006/relationships/hyperlink" Target="https://www.icshop.com.tw/products/368030501809" TargetMode="External"/><Relationship Id="rId4" Type="http://schemas.openxmlformats.org/officeDocument/2006/relationships/hyperlink" Target="https://www.icshop.com.tw/products/368030501479" TargetMode="External"/><Relationship Id="rId5" Type="http://schemas.openxmlformats.org/officeDocument/2006/relationships/hyperlink" Target="https://www.aliexpress.us/item/3256802773370193.html" TargetMode="External"/><Relationship Id="rId6" Type="http://schemas.openxmlformats.org/officeDocument/2006/relationships/hyperlink" Target="https://shop.playrobot.com/products/cee0055" TargetMode="External"/><Relationship Id="rId7" Type="http://schemas.openxmlformats.org/officeDocument/2006/relationships/hyperlink" Target="https://www.icshop.com.tw/products/368090500165" TargetMode="External"/><Relationship Id="rId8" Type="http://schemas.openxmlformats.org/officeDocument/2006/relationships/hyperlink" Target="https://www.icshop.com.tw/products/368090500104" TargetMode="External"/><Relationship Id="rId9" Type="http://schemas.openxmlformats.org/officeDocument/2006/relationships/hyperlink" Target="https://tw.bid.yahoo.com/item/100076609165" TargetMode="External"/><Relationship Id="rId10" Type="http://schemas.openxmlformats.org/officeDocument/2006/relationships/hyperlink" Target="https://www.lcsc.com/product-detail/C202112.html" TargetMode="External"/><Relationship Id="rId11" Type="http://schemas.openxmlformats.org/officeDocument/2006/relationships/hyperlink" Target="https://lcsc.com/product-detail/C114218.html" TargetMode="External"/><Relationship Id="rId12" Type="http://schemas.openxmlformats.org/officeDocument/2006/relationships/hyperlink" Target="https://www.lcsc.com/product-detail/C2894897.html" TargetMode="External"/><Relationship Id="rId13" Type="http://schemas.openxmlformats.org/officeDocument/2006/relationships/hyperlink" Target="https://www.lcsc.com/product-detail/C131337.html" TargetMode="External"/><Relationship Id="rId14" Type="http://schemas.openxmlformats.org/officeDocument/2006/relationships/hyperlink" Target="https://www.lcsc.com/product-detail/WiFi-Modules_Espressif-Systems-ESP32-S3-WROOM-1-N16R8_C2913202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top.png"/>
          <p:cNvPicPr>
            <a:picLocks noChangeAspect="1"/>
          </p:cNvPicPr>
          <p:nvPr/>
        </p:nvPicPr>
        <p:blipFill>
          <a:blip r:embed="rId2"/>
          <a:srcRect l="20898" r="20898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822960" cy="6858000"/>
          </a:xfrm>
          <a:prstGeom prst="rect">
            <a:avLst/>
          </a:prstGeom>
          <a:solidFill>
            <a:srgbClr val="1F3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ESP32-S3 CAMERA · V1.2 · 60 × 85 MM · 4 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669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哪些零件 JLCPCB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幫你焊好，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哪些要自己買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零件分工圖、組裝示意、3D 渲染與採購清單。依實際 PCB 座標整理，對應 2026-09-21 定稿的電路板 v1.2。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772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" y="54406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JLCPCB 貼好（SMD）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59" y="54772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71215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插件三顆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79" y="54772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059935" y="5440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板外零件，自己買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本頁對應電路板 v1.2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2026-09-21 定稿，快照存在專案 versions/v1.2/，含 Gerber、BOM、CPL、ERC/DRC 報告，視為唯讀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F5D46"/>
                </a:solidFill>
                <a:latin typeface="Consolas"/>
                <a:ea typeface="Microsoft JhengHei"/>
                <a:cs typeface="Microsoft JhengHei"/>
              </a:rPr>
              <a:t>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60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最初佈局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6324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60 × 85 mm 四層板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ESP32-S3-WROOM-1 模組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OV2640 相機、microSD、鋰電池充電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0175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66160" cy="3291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09159" y="1920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F5D46"/>
                </a:solidFill>
                <a:latin typeface="Consolas"/>
                <a:ea typeface="Microsoft JhengHei"/>
                <a:cs typeface="Microsoft JhengHei"/>
              </a:rPr>
              <a:t>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560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相機腳位標準化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06324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相機腳位改為 ESP32-CAM 標準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加相機專用 2.8V / 1.2V LDO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BOM 填入 LCSC 料號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0175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37360"/>
            <a:ext cx="3566160" cy="3291840"/>
          </a:xfrm>
          <a:prstGeom prst="roundRect">
            <a:avLst>
              <a:gd name="adj" fmla="val 4000"/>
            </a:avLst>
          </a:prstGeom>
          <a:solidFill>
            <a:srgbClr val="1F3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95360" y="1920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v1.2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60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電源開關與電源燈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06324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加電源滑動開關 SW4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加 EN 上拉 R21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加藍色電源燈 D5 與限流 R20</a:t>
            </a:r>
          </a:p>
          <a:p>
            <a:pPr algn="l" marL="201168" indent="-201168">
              <a:spcAft>
                <a:spcPts val="6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絲印標 ON / 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預覽螢幕為外接：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1.3 吋 ST7789 IPS 螢幕接在 J5、J6 排針上，不改板，仍屬 v1.2。不再規劃 v1.3。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零件分三類：貼好的、插件的、板外的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59" y="1645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6000" b="1" i="0">
                <a:solidFill>
                  <a:srgbClr val="23A3A3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  <a:r>
              <a:rPr sz="14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  顆 SMD · 32 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37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上傳 BOM 與 CPL 即可，料號已填在 BOM 內。電阻電容全是 Basic Part，其餘是模組與連接器。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571999" y="1645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1999" y="19659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6000" b="1" i="0">
                <a:solidFill>
                  <a:srgbClr val="E0A02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r>
              <a:rPr sz="14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  顆插件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Economic 自己焊，Standard 代焊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337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J4 電池座、J5 UART 排針、J6 擴充排針。J4 一定要焊才能接電池。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60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r>
              <a:rPr sz="14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  項板外零件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一律自己買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37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相機模組、鋰電池、microSD 卡、USB-C 線、M2 螺絲銅柱、外殼或夾具。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PCBA 方案怎麼選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800600"/>
          <a:ext cx="1106424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4526280"/>
                <a:gridCol w="45262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Economic 只焊 SMD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Standard 含插件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JLCPCB 焊什麼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 顆 SMD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 顆 SMD + J4、J5、J6 三顆插件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自己要做什麼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買 J4（必要）與 J5、J6（可先空著）回來手焊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不用買插件，收到板子直接接電池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頂面 Top · F.Cu · 30 顆 SMD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依實際 PCB 座標繪製。粉紅色為板外零件的位置示意。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417320"/>
            <a:ext cx="3324112" cy="4709160"/>
          </a:xfrm>
          <a:prstGeom prst="roundRect">
            <a:avLst>
              <a:gd name="adj" fmla="val 2000"/>
            </a:avLst>
          </a:prstGeom>
          <a:solidFill>
            <a:srgbClr val="2F5D46"/>
          </a:solidFill>
          <a:ln w="12700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959620" y="5544760"/>
            <a:ext cx="3268711" cy="554018"/>
          </a:xfrm>
          <a:prstGeom prst="rect">
            <a:avLst/>
          </a:prstGeom>
          <a:solidFill>
            <a:srgbClr val="24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0" y="5738666"/>
            <a:ext cx="332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ANTENNA KEEPOUT</a:t>
            </a:r>
          </a:p>
        </p:txBody>
      </p:sp>
      <p:sp>
        <p:nvSpPr>
          <p:cNvPr id="7" name="Oval 6"/>
          <p:cNvSpPr/>
          <p:nvPr/>
        </p:nvSpPr>
        <p:spPr>
          <a:xfrm>
            <a:off x="4092585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973483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092585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973483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774036" y="2453335"/>
            <a:ext cx="509697" cy="587259"/>
          </a:xfrm>
          <a:prstGeom prst="rect">
            <a:avLst/>
          </a:prstGeom>
          <a:solidFill>
            <a:srgbClr val="23A3A3"/>
          </a:solidFill>
          <a:ln w="635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9819" y="1611226"/>
            <a:ext cx="1008314" cy="437674"/>
          </a:xfrm>
          <a:prstGeom prst="rect">
            <a:avLst/>
          </a:prstGeom>
          <a:solidFill>
            <a:srgbClr val="23A3A3"/>
          </a:solidFill>
          <a:ln w="635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4555" y="2102918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217243" y="211538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 rot="5400000">
            <a:off x="6519187" y="1699869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 rot="5400000">
            <a:off x="6109213" y="1881310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 rot="5400000">
            <a:off x="6120294" y="2087682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 rot="5400000">
            <a:off x="6519187" y="217078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 rot="5400000">
            <a:off x="6109213" y="2324525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 rot="5400000">
            <a:off x="6120294" y="253089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63224" y="164446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86215" y="164446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36630" y="2065522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8496" y="3500430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768496" y="372203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663224" y="1866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86215" y="1866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552421" y="2087682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52421" y="225388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286492" y="3046135"/>
            <a:ext cx="288089" cy="288089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6492" y="2602920"/>
            <a:ext cx="288089" cy="288089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6492" y="3489350"/>
            <a:ext cx="288089" cy="288089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95359" y="4505974"/>
            <a:ext cx="997233" cy="1412748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9715" y="3228961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0" y="1650007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6500" y="2120923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5505" y="1841144"/>
            <a:ext cx="155125" cy="37119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SW4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23898" y="1849454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823898" y="2015660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344668" y="2553058"/>
            <a:ext cx="498616" cy="498616"/>
          </a:xfrm>
          <a:prstGeom prst="roundRect">
            <a:avLst>
              <a:gd name="adj" fmla="val 8000"/>
            </a:avLst>
          </a:prstGeom>
          <a:solidFill>
            <a:srgbClr val="D1467F"/>
          </a:solidFill>
          <a:ln w="6350">
            <a:solidFill>
              <a:srgbClr val="92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416690" y="2625081"/>
            <a:ext cx="354572" cy="354572"/>
          </a:xfrm>
          <a:prstGeom prst="ellipse">
            <a:avLst/>
          </a:prstGeom>
          <a:solidFill>
            <a:srgbClr val="EEF1EC"/>
          </a:solidFill>
          <a:ln w="9525">
            <a:solidFill>
              <a:srgbClr val="92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5499793" y="2708183"/>
            <a:ext cx="188366" cy="188366"/>
          </a:xfrm>
          <a:prstGeom prst="ellipse">
            <a:avLst/>
          </a:prstGeom>
          <a:solidFill>
            <a:srgbClr val="92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5206163" y="1777432"/>
            <a:ext cx="775626" cy="775626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146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48640" y="145389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8096" y="1417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貼好（SMD）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172821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68096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板外零件，自己買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2286000"/>
            <a:ext cx="301752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8368" y="235915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OV2640 相機模組 → J2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2633472"/>
            <a:ext cx="27980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排線從 J2 出來後反折 180°，模組貼回板面、鏡頭朝上，底下墊 2 mm 泡棉膠。落在按鍵那一欄與 U4 之間的空區，鏡頭中心 (30, 25)。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66160" y="2743200"/>
            <a:ext cx="1778508" cy="59167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48640" y="3703320"/>
            <a:ext cx="3017520" cy="8686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77647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M2 螺絲 × 4 → H1–H4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4050791"/>
            <a:ext cx="2798063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四角 Ø2.2 定位孔，配 M2 銅柱鎖外殼。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3566160" y="1712079"/>
            <a:ext cx="514215" cy="2311281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48640" y="4754880"/>
            <a:ext cx="3017520" cy="8686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58368" y="482803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外殼 / 夾具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02352"/>
            <a:ext cx="2798063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自製或 3D 列印，固定相機模組，鏡頭開孔對 (30, 25)。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2011680"/>
            <a:ext cx="3200400" cy="10058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522207" y="208483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USB-C 線 → J1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22207" y="2359152"/>
            <a:ext cx="29809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燒錄與充電。J1 母座開口朝右板邊，要用能傳資料的線。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7302021" y="2514600"/>
            <a:ext cx="1110459" cy="232365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412480" y="3246120"/>
            <a:ext cx="3200400" cy="13716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522207" y="331927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v1.2 新增：SW4、D5、R20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7" y="3593591"/>
            <a:ext cx="29809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右上角 SW4 電源滑動開關撥桿突出板邊，絲印 ON / OFF；D5 藍色電源燈與 R20 限流電阻在旁邊。</a:t>
            </a:r>
          </a:p>
        </p:txBody>
      </p:sp>
      <p:cxnSp>
        <p:nvCxnSpPr>
          <p:cNvPr id="66" name="Connector 65"/>
          <p:cNvCxnSpPr/>
          <p:nvPr/>
        </p:nvCxnSpPr>
        <p:spPr>
          <a:xfrm flipH="1" flipV="1">
            <a:off x="7228332" y="2026740"/>
            <a:ext cx="1184148" cy="1722299"/>
          </a:xfrm>
          <a:prstGeom prst="line">
            <a:avLst/>
          </a:prstGeom>
          <a:ln w="12700">
            <a:solidFill>
              <a:srgbClr val="0D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412480" y="4846320"/>
            <a:ext cx="320040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522207" y="491947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U1 ESP32-S3-WROOM-1-N16R8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7" y="5193792"/>
            <a:ext cx="29809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模組天線端懸在下方深綠色淨空區，那一帶不放任何零件。</a:t>
            </a:r>
          </a:p>
        </p:txBody>
      </p:sp>
      <p:cxnSp>
        <p:nvCxnSpPr>
          <p:cNvPr id="70" name="Connector 69"/>
          <p:cNvCxnSpPr/>
          <p:nvPr/>
        </p:nvCxnSpPr>
        <p:spPr>
          <a:xfrm flipH="1" flipV="1">
            <a:off x="6103673" y="5212348"/>
            <a:ext cx="2308807" cy="182612"/>
          </a:xfrm>
          <a:prstGeom prst="line">
            <a:avLst/>
          </a:prstGeom>
          <a:ln w="12700">
            <a:solidFill>
              <a:srgbClr val="0D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 Bottom · B.Cu · 24 顆 SMD + 3 插件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從底面看，已左右鏡像，與 KiCad 3D 檢視及 JLCPCB 預覽的 Bottom 一致。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417320"/>
            <a:ext cx="3324112" cy="4709160"/>
          </a:xfrm>
          <a:prstGeom prst="roundRect">
            <a:avLst>
              <a:gd name="adj" fmla="val 2000"/>
            </a:avLst>
          </a:prstGeom>
          <a:solidFill>
            <a:srgbClr val="2F5D46"/>
          </a:solidFill>
          <a:ln w="12700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959620" y="5544760"/>
            <a:ext cx="3268711" cy="554018"/>
          </a:xfrm>
          <a:prstGeom prst="rect">
            <a:avLst/>
          </a:prstGeom>
          <a:solidFill>
            <a:srgbClr val="24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0" y="5738666"/>
            <a:ext cx="332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ANTENNA KEEPOUT</a:t>
            </a:r>
          </a:p>
        </p:txBody>
      </p:sp>
      <p:sp>
        <p:nvSpPr>
          <p:cNvPr id="7" name="Oval 6"/>
          <p:cNvSpPr/>
          <p:nvPr/>
        </p:nvSpPr>
        <p:spPr>
          <a:xfrm>
            <a:off x="6973483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092585" y="1577985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973483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092585" y="5289911"/>
            <a:ext cx="121884" cy="121884"/>
          </a:xfrm>
          <a:prstGeom prst="ellipse">
            <a:avLst/>
          </a:prstGeom>
          <a:solidFill>
            <a:srgbClr val="EEF1EC"/>
          </a:solidFill>
          <a:ln w="9525">
            <a:solidFill>
              <a:srgbClr val="1F3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58799" y="3417327"/>
            <a:ext cx="1252082" cy="869809"/>
          </a:xfrm>
          <a:prstGeom prst="rect">
            <a:avLst/>
          </a:prstGeom>
          <a:solidFill>
            <a:srgbClr val="23A3A3"/>
          </a:solidFill>
          <a:ln w="635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2705" y="4730352"/>
            <a:ext cx="387813" cy="304710"/>
          </a:xfrm>
          <a:prstGeom prst="rect">
            <a:avLst/>
          </a:prstGeom>
          <a:solidFill>
            <a:srgbClr val="E0A021"/>
          </a:solidFill>
          <a:ln w="6350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3804" y="3533671"/>
            <a:ext cx="199446" cy="620501"/>
          </a:xfrm>
          <a:prstGeom prst="rect">
            <a:avLst/>
          </a:prstGeom>
          <a:solidFill>
            <a:srgbClr val="E0A021"/>
          </a:solidFill>
          <a:ln w="6350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3804" y="4309298"/>
            <a:ext cx="199446" cy="620501"/>
          </a:xfrm>
          <a:prstGeom prst="rect">
            <a:avLst/>
          </a:prstGeom>
          <a:solidFill>
            <a:srgbClr val="E0A021"/>
          </a:solidFill>
          <a:ln w="6350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J6</a:t>
            </a:r>
          </a:p>
        </p:txBody>
      </p:sp>
      <p:sp>
        <p:nvSpPr>
          <p:cNvPr id="15" name="Rectangle 14"/>
          <p:cNvSpPr/>
          <p:nvPr/>
        </p:nvSpPr>
        <p:spPr>
          <a:xfrm rot="5400000">
            <a:off x="4264331" y="370541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206163" y="4263591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995636" y="427605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762948" y="4263591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552421" y="427605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873752" y="5039218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63224" y="505168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663224" y="4830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 rot="5400000">
            <a:off x="5206163" y="3155554"/>
            <a:ext cx="110803" cy="69252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 rot="5400000">
            <a:off x="5438851" y="3389627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275411" y="217078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17239" y="1871615"/>
            <a:ext cx="204986" cy="88643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D3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2836" y="3505970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8047" y="194917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106439" y="194917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441617" y="327882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884832" y="4830075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884832" y="460846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663224" y="4608468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771262" y="416525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549654" y="4165253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 rot="5400000">
            <a:off x="5438851" y="2724804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 rot="5400000">
            <a:off x="5438851" y="2946411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 rot="5400000">
            <a:off x="5438851" y="3168019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 rot="5400000">
            <a:off x="5217243" y="2724804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 rot="5400000">
            <a:off x="5217243" y="2946411"/>
            <a:ext cx="88643" cy="44321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402836" y="3838382"/>
            <a:ext cx="166205" cy="144044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55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52144" y="1777432"/>
            <a:ext cx="332411" cy="277009"/>
          </a:xfrm>
          <a:prstGeom prst="rect">
            <a:avLst/>
          </a:prstGeom>
          <a:solidFill>
            <a:srgbClr val="23A3A3"/>
          </a:solidFill>
          <a:ln w="5080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U3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145389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8096" y="14173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貼好（SMD）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172821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8096" y="1691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插件，Economic 要自己焊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200253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8096" y="19659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板外零件，自己買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41340" y="2746965"/>
            <a:ext cx="1662056" cy="2216075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D146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41340" y="2792685"/>
            <a:ext cx="16620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D1467F"/>
                </a:solidFill>
                <a:latin typeface="Consolas"/>
                <a:ea typeface="Microsoft JhengHei"/>
                <a:cs typeface="Microsoft JhengHei"/>
              </a:rPr>
              <a:t>LiPo 603040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2377440"/>
            <a:ext cx="3017520" cy="10058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D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58368" y="245059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電源電路在這一角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2724912"/>
            <a:ext cx="279806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U3 TP4056 充電、D3 B5819W、U2 3.3V LDO、Q2 MOSFET 與 R21 EN 上拉。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3566160" y="1915936"/>
            <a:ext cx="1085984" cy="827264"/>
          </a:xfrm>
          <a:prstGeom prst="line">
            <a:avLst/>
          </a:prstGeom>
          <a:ln w="12700">
            <a:solidFill>
              <a:srgbClr val="0D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8640" y="3566160"/>
            <a:ext cx="301752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58368" y="363931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3.7V 鋰電池 → J4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3913632"/>
            <a:ext cx="27980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JST PH 2.0 插頭、帶保護板。603040（30 × 40 × 6 mm）墊 2 mm 泡棉貼在底面中央 (34, 44)。收到先量極性，pin 1 = 正極。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3566160" y="3855002"/>
            <a:ext cx="975180" cy="259798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8640" y="4983480"/>
            <a:ext cx="3017520" cy="11887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58368" y="505663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5F06"/>
                </a:solidFill>
                <a:latin typeface="Microsoft JhengHei"/>
                <a:ea typeface="Microsoft JhengHei"/>
                <a:cs typeface="Microsoft JhengHei"/>
              </a:rPr>
              <a:t>J5 UART、J6 擴充排針（插件）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330952"/>
            <a:ext cx="2798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1×4 2.54 mm。要接螢幕建議用 90° 彎針，不撐高。暫時用不到可以先空著。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3566160" y="4231735"/>
            <a:ext cx="487644" cy="1254665"/>
          </a:xfrm>
          <a:prstGeom prst="line">
            <a:avLst/>
          </a:prstGeom>
          <a:ln w="12700">
            <a:solidFill>
              <a:srgbClr val="8A5F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412480" y="2011680"/>
            <a:ext cx="3200400" cy="13258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A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522207" y="208483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5F06"/>
                </a:solidFill>
                <a:latin typeface="Microsoft JhengHei"/>
                <a:ea typeface="Microsoft JhengHei"/>
                <a:cs typeface="Microsoft JhengHei"/>
              </a:rPr>
              <a:t>J4 電池座（插件）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7" y="2359152"/>
            <a:ext cx="29809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JST PH 2.0 mm 2P 立式座。L 形絲印那側是 pin 1（VBAT +），靠板子中央；pin 2 GND 靠板邊。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6840518" y="2651760"/>
            <a:ext cx="1571962" cy="2228177"/>
          </a:xfrm>
          <a:prstGeom prst="line">
            <a:avLst/>
          </a:prstGeom>
          <a:ln w="12700">
            <a:solidFill>
              <a:srgbClr val="8A5F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412480" y="3566160"/>
            <a:ext cx="3200400" cy="9144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522207" y="363931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microSD 卡 → J3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22207" y="3913632"/>
            <a:ext cx="29809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8–32 GB，金手指朝板子插入，卡槽開口朝這一側的板邊。</a:t>
            </a:r>
          </a:p>
        </p:txBody>
      </p:sp>
      <p:cxnSp>
        <p:nvCxnSpPr>
          <p:cNvPr id="70" name="Connector 69"/>
          <p:cNvCxnSpPr/>
          <p:nvPr/>
        </p:nvCxnSpPr>
        <p:spPr>
          <a:xfrm flipH="1" flipV="1">
            <a:off x="7510881" y="3855002"/>
            <a:ext cx="901599" cy="76918"/>
          </a:xfrm>
          <a:prstGeom prst="line">
            <a:avLst/>
          </a:prstGeom>
          <a:ln w="12700">
            <a:solidFill>
              <a:srgbClr val="D146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412480" y="4709160"/>
            <a:ext cx="320040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522207" y="4782312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2285A"/>
                </a:solidFill>
                <a:latin typeface="Microsoft JhengHei"/>
                <a:ea typeface="Microsoft JhengHei"/>
                <a:cs typeface="Microsoft JhengHei"/>
              </a:rPr>
              <a:t>1.3 吋預覽螢幕（選配）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22207" y="5056632"/>
            <a:ext cx="29809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疊在電池外側、亮面朝外，7 pin 排針邊朝 J5、J6 那側的板邊，離排針只有 5 mm，七條短線接完。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貼好：58 顆 SMD · 32 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上傳 fab/esp32s3-camera-bom.csv 與 CPL 即可，料號已填在 BOM 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板上零件清單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U1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ESP32-S3-WROOM-1-N16R8 模組 </a:t>
            </a:r>
            <a:r>
              <a:rPr sz="1300" b="0" i="0">
                <a:solidFill>
                  <a:srgbClr val="1B2420"/>
                </a:solidFill>
                <a:latin typeface="Consolas"/>
                <a:ea typeface="Microsoft JhengHei"/>
                <a:cs typeface="Microsoft JhengHei"/>
              </a:rPr>
              <a:t>C2913202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U2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AP2112K 3.3V LDO；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U5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2.8V、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U6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1.2V LDO 供相機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U3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TP4056 充電；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U4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USBLC6 ESD；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Q1 Q2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MOSFET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J1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USB-C 座；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J2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24P FPC 座；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J3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microSD 座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SW1–3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按鍵；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SW4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電源滑動開關 </a:t>
            </a:r>
            <a:r>
              <a:rPr sz="1300" b="0" i="0">
                <a:solidFill>
                  <a:srgbClr val="1B2420"/>
                </a:solidFill>
                <a:latin typeface="Consolas"/>
                <a:ea typeface="Microsoft JhengHei"/>
                <a:cs typeface="Microsoft JhengHei"/>
              </a:rPr>
              <a:t>C431540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（v1.2 新增）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D1 D2 D4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LED；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D5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藍色電源燈 </a:t>
            </a:r>
            <a:r>
              <a:rPr sz="1300" b="0" i="0">
                <a:solidFill>
                  <a:srgbClr val="1B2420"/>
                </a:solidFill>
                <a:latin typeface="Consolas"/>
                <a:ea typeface="Microsoft JhengHei"/>
                <a:cs typeface="Microsoft JhengHei"/>
              </a:rPr>
              <a:t>C2288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（v1.2 新增）；</a:t>
            </a:r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D3 </a:t>
            </a: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B5819W </a:t>
            </a:r>
            <a:r>
              <a:rPr sz="1300" b="0" i="0">
                <a:solidFill>
                  <a:srgbClr val="1B2420"/>
                </a:solidFill>
                <a:latin typeface="Consolas"/>
                <a:ea typeface="Microsoft JhengHei"/>
                <a:cs typeface="Microsoft JhengHei"/>
              </a:rPr>
              <a:t>C8598</a:t>
            </a:r>
          </a:p>
          <a:p>
            <a:pPr algn="l" marL="201168" indent="-201168">
              <a:lnSpc>
                <a:spcPct val="115000"/>
              </a:lnSpc>
              <a:spcAft>
                <a:spcPts val="9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21 顆電阻、17 顆電容，全部 Basic Part（v1.2 多了 R20 限流、R21 EN 上拉）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6035040" cy="10058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配對頁要看的料號：</a:t>
            </a:r>
            <a:r>
              <a:rPr sz="12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U1 C2913202（N16R8 模組，可能預購）、D3 C8598（SOD-123，不是 SS14）、SW4 C431540。逐行確認有貨。</a:t>
            </a:r>
          </a:p>
        </p:txBody>
      </p:sp>
      <p:pic>
        <p:nvPicPr>
          <p:cNvPr id="9" name="Picture 8" descr="iso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487" y="1417320"/>
            <a:ext cx="4581625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0" y="45720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裸板貼片後的頂面：三顆按鍵、FPC 座、ESP32 模組與天線淨空區</a:t>
            </a:r>
          </a:p>
        </p:txBody>
      </p:sp>
      <p:pic>
        <p:nvPicPr>
          <p:cNvPr id="11" name="Picture 10" descr="closeup-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937760"/>
            <a:ext cx="2112784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89720" y="49834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v1.2 新增的三顆：</a:t>
            </a: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SW4 電源開關、D5 藍色電源燈、R20 限流電阻，都在右上角，一起由 JLCPCB 貼好。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插件三顆：Economic 自己焊，Standard 由 JLCPCB 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三顆通孔零件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658368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3108960"/>
                <a:gridCol w="128016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Ref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零件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料號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JST PH 2.0 mm 2P 立式電池座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C131337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接鋰電池，必要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UART 除錯排針 1×4 2.54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C124378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除錯、接螢幕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擴充排針 1×4 2.54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C124378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擴充、接螢幕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65760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5F06"/>
                </a:solidFill>
                <a:latin typeface="Microsoft JhengHei"/>
                <a:ea typeface="Microsoft JhengHei"/>
                <a:cs typeface="Microsoft JhengHei"/>
              </a:rPr>
              <a:t>Economic 只焊 SMD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這三顆會被略過，要自己買回來手焊。J4 一定要焊才能接電池，J5、J6 暫時用不到可以先空著。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65760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6052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Standard 含插件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2062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含插件焊接，這三顆 JLCPCB 會一起焊好，不用自己買。收到板子接上電池就能開機。</a:t>
            </a:r>
          </a:p>
        </p:txBody>
      </p:sp>
      <p:pic>
        <p:nvPicPr>
          <p:cNvPr id="12" name="Picture 11" descr="closeup-j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438452"/>
            <a:ext cx="4160520" cy="29752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79" y="448056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J4 電池座，從底面看。</a:t>
            </a:r>
            <a:r>
              <a:rPr sz="11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左上角 L 形絲印記號那一側是 pin 1（電池正極 VBAT），另一腳是 GND。</a:t>
            </a:r>
          </a:p>
        </p:txBody>
      </p:sp>
      <p:pic>
        <p:nvPicPr>
          <p:cNvPr id="14" name="Picture 13" descr="low-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5132769"/>
            <a:ext cx="2011680" cy="11187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516636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低角度側視：排針與 JST 座是板上最高的插件。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 6 項：一律自己買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4475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OV2640 相機模組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099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24 pin 0.5 mm 排線，ESP32-CAM 相容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4356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3.7V 鋰電池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414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JST PH 2.0 插頭，帶保護板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671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J4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0779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07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8036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microSD 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729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8–32 GB，Class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898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J3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63931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363931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8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USB-C 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044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要能傳資料，不要只能充電的線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30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J1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37083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4340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M2 螺絲與銅柱 4 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360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長度依外殼決定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61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2285A"/>
                </a:solidFill>
                <a:latin typeface="Consolas"/>
                <a:ea typeface="Microsoft JhengHei"/>
                <a:cs typeface="Microsoft JhengHei"/>
              </a:rPr>
              <a:t>→ H1–H4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102352"/>
            <a:ext cx="384048" cy="384048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51023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7492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外殼或夾具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675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自製或 3D 列印，固定相機模組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06440"/>
            <a:ext cx="5577840" cy="5029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8521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相機排線容易折壞，建議多買一條備用。電池插頭極性沒有統一規範，收到先量。</a:t>
            </a:r>
          </a:p>
        </p:txBody>
      </p:sp>
      <p:pic>
        <p:nvPicPr>
          <p:cNvPr id="34" name="Picture 33" descr="assembled-iso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003" y="1417320"/>
            <a:ext cx="5255393" cy="35661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0" y="5029200"/>
            <a:ext cx="5257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組裝完成，底面。</a:t>
            </a:r>
            <a:r>
              <a:rPr sz="11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603040 鋰電池墊泡棉貼在底面中央，黃色膠帶端是保護板；電池外側再疊 1.3 吋 ST7789 預覽螢幕，7 pin 排針邊朝右板邊；microSD 卡插在 J3。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組裝完成示意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相機排線插進 J2 後反折 180° 讓模組貼回板面；microSD 卡插 J3；鋰電池墊在底面；螢幕疊在電池外側朝外。相機、記憶卡、電池、螢幕是依實際尺寸畫的簡化模型，其餘是 KiCad 庫原廠 3D 模型。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611880" cy="452628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ssembled-iso-top.png"/>
          <p:cNvPicPr>
            <a:picLocks noChangeAspect="1"/>
          </p:cNvPicPr>
          <p:nvPr/>
        </p:nvPicPr>
        <p:blipFill>
          <a:blip r:embed="rId2"/>
          <a:srcRect l="13514" r="13514"/>
          <a:stretch>
            <a:fillRect/>
          </a:stretch>
        </p:blipFill>
        <p:spPr>
          <a:xfrm>
            <a:off x="658368" y="1801368"/>
            <a:ext cx="3392424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4748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組裝完成，頂面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766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橘色排線從 J2 出來反折，相機模組躺回板面、鏡頭朝上；右側是 USB-C 座 J1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4820" y="1691640"/>
            <a:ext cx="3611880" cy="452628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assembled-iso-right.png"/>
          <p:cNvPicPr>
            <a:picLocks noChangeAspect="1"/>
          </p:cNvPicPr>
          <p:nvPr/>
        </p:nvPicPr>
        <p:blipFill>
          <a:blip r:embed="rId3"/>
          <a:srcRect l="13514" r="13514"/>
          <a:stretch>
            <a:fillRect/>
          </a:stretch>
        </p:blipFill>
        <p:spPr>
          <a:xfrm>
            <a:off x="4384548" y="1801368"/>
            <a:ext cx="3392424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57700" y="504748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從開關那一側看（v1.2）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53766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右上角是 SW4 電源開關，撥桿突出板邊；旁邊小顆的是 D5 藍色電源燈，下方是 USB-C 座 J1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91640"/>
            <a:ext cx="3611880" cy="452628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loseup-camera-module.png"/>
          <p:cNvPicPr>
            <a:picLocks noChangeAspect="1"/>
          </p:cNvPicPr>
          <p:nvPr/>
        </p:nvPicPr>
        <p:blipFill>
          <a:blip r:embed="rId4"/>
          <a:srcRect l="16258" r="16258"/>
          <a:stretch>
            <a:fillRect/>
          </a:stretch>
        </p:blipFill>
        <p:spPr>
          <a:xfrm>
            <a:off x="8110727" y="1801368"/>
            <a:ext cx="3392424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04748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OV2640 相機模組特寫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376672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排線反折蓋過 J2 後接到模組，模組底下是泡棉膠墊；9 × 9 mm 感光板、8.5 mm 鏡座、Ø6.5 mm 鏡筒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底面就是使用者看的那一面：螢幕朝外，鏡頭在反面</a:t>
            </a:r>
          </a:p>
        </p:txBody>
      </p:sp>
      <p:pic>
        <p:nvPicPr>
          <p:cNvPr id="3" name="Picture 2" descr="assembled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7218"/>
            <a:ext cx="3931920" cy="4975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0" y="1371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底面正視（含螢幕）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73736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螢幕亮面朝外，7 pin 排針邊朝右，離 J5、J6 排針 5 mm，七條短線就接完。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螢幕四角 Ø2 mm 孔落在 (16.9, 33.6)、(51.1, 33.6)、(16.9, 56.4)、(51.1, 56.4)，可用 M2 銅柱固定到外殼。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螢幕轉 90°，通用型 1.3 吋 IPS ST7789，27.78 × 39.22 mm，依 lcdwiki 尺寸圖 1:1。</a:t>
            </a:r>
          </a:p>
        </p:txBody>
      </p:sp>
      <p:pic>
        <p:nvPicPr>
          <p:cNvPr id="6" name="Picture 5" descr="assembled-bottom-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347690"/>
            <a:ext cx="3703320" cy="20594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347472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底面低角度，看高度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55279" y="3840480"/>
          <a:ext cx="3703319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87451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高度 / 距離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電池 + 泡棉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J5、J6 排針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8.5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螢幕模組疊上去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+2.8 mm → 約 10.8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螢幕距排針 / J4 / 天線區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5.2 / 4.5 / 10.5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663440" y="4297680"/>
            <a:ext cx="3108960" cy="192024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92040" y="4434840"/>
            <a:ext cx="26517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外殼開孔位置：</a:t>
            </a: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鏡頭 (30, 25)、開關右板邊 y 8–14、USB-C 右板邊、記憶卡左板邊、螢幕窗 23.4 × 23.4 mm。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相機模組落點與鏡頭中心</a:t>
            </a:r>
          </a:p>
        </p:txBody>
      </p:sp>
      <p:pic>
        <p:nvPicPr>
          <p:cNvPr id="3" name="Picture 2" descr="assembled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7218"/>
            <a:ext cx="3931920" cy="4975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0" y="137160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頂面正視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737360"/>
            <a:ext cx="6949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2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模組落在 x 25.5–34.5、y 20.5–29.5 mm 的空區，鏡頭中心 (30, 25)，外殼開孔對這個位置。</a:t>
            </a:r>
          </a:p>
          <a:p>
            <a:pPr algn="l" marL="201168" indent="-201168">
              <a:lnSpc>
                <a:spcPct val="125000"/>
              </a:lnSpc>
              <a:spcAft>
                <a:spcPts val="800"/>
              </a:spcAft>
              <a:buClr>
                <a:srgbClr val="55625B"/>
              </a:buClr>
              <a:buChar char="•"/>
            </a:pPr>
            <a:r>
              <a:rPr sz="12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排線長度不同，落點會前後移；底下墊一塊約 2 mm 厚、8 × 8 mm 的雙面泡棉膠，不再懸出板邊。</a:t>
            </a:r>
          </a:p>
        </p:txBody>
      </p:sp>
      <p:pic>
        <p:nvPicPr>
          <p:cNvPr id="6" name="Picture 5" descr="assembled-iso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058341"/>
            <a:ext cx="3383280" cy="22957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623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從開關側看：SW4 撥桿突出板邊，D5 藍燈在旁邊。</a:t>
            </a:r>
          </a:p>
        </p:txBody>
      </p:sp>
      <p:pic>
        <p:nvPicPr>
          <p:cNvPr id="8" name="Picture 7" descr="closeup-camera-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144649"/>
            <a:ext cx="3383280" cy="21231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5623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相機模組特寫：實品鏡片會有藍紫色鍍膜反光。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裸板貼片後的 3D 渲染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只有 JLCPCB 出貨時板上會有的零件，沒有板外零件。用 KiCad 10 光線追蹤引擎從最終板檔輸出。</a:t>
            </a:r>
          </a:p>
        </p:txBody>
      </p:sp>
      <p:pic>
        <p:nvPicPr>
          <p:cNvPr id="4" name="Picture 3" descr="iso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2129"/>
            <a:ext cx="3502152" cy="2376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60520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頂面立體。</a:t>
            </a: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 FPC 座在上緣，模組天線端懸在下方淨空區。</a:t>
            </a:r>
          </a:p>
        </p:txBody>
      </p:sp>
      <p:pic>
        <p:nvPicPr>
          <p:cNvPr id="6" name="Picture 5" descr="iso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76" y="1692129"/>
            <a:ext cx="3502152" cy="23764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51376" y="4160520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底面立體。</a:t>
            </a: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microSD 座、JST 電池座與 J5、J6 排針都在這一面。</a:t>
            </a:r>
          </a:p>
        </p:txBody>
      </p:sp>
      <p:pic>
        <p:nvPicPr>
          <p:cNvPr id="8" name="Picture 7" descr="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694439"/>
            <a:ext cx="1874519" cy="2371841"/>
          </a:xfrm>
          <a:prstGeom prst="rect">
            <a:avLst/>
          </a:prstGeom>
        </p:spPr>
      </p:pic>
      <p:pic>
        <p:nvPicPr>
          <p:cNvPr id="9" name="Picture 8" descr="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1694439"/>
            <a:ext cx="1874519" cy="23718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54112" y="416052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頂面 / 底面正視。</a:t>
            </a:r>
            <a:r>
              <a:rPr sz="10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與 JLCPCB 預覽的 Top / Bottom 對應，底面已鏡像。</a:t>
            </a:r>
          </a:p>
        </p:txBody>
      </p:sp>
      <p:pic>
        <p:nvPicPr>
          <p:cNvPr id="11" name="Picture 10" descr="low-ang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848186"/>
            <a:ext cx="2377440" cy="13221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7520" y="48920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低角度側視。</a:t>
            </a: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排針與 JST 座是最高的插件。</a:t>
            </a:r>
          </a:p>
        </p:txBody>
      </p:sp>
      <p:pic>
        <p:nvPicPr>
          <p:cNvPr id="13" name="Picture 12" descr="closeup-came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846483"/>
            <a:ext cx="2112264" cy="13255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0" y="48920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相機接頭特寫。</a:t>
            </a: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J2 掀蓋式 24P 座，右側 U5、U6 供相機電源。</a:t>
            </a:r>
          </a:p>
        </p:txBody>
      </p:sp>
      <p:pic>
        <p:nvPicPr>
          <p:cNvPr id="15" name="Picture 14" descr="closeup-us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79" y="4846483"/>
            <a:ext cx="2112264" cy="13255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78440" y="489204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USB-C 區。</a:t>
            </a: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J1 開口朝板邊，下方 U4 是 ESD 保護。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v1.2 重點特寫：電源開關、電源燈、USB-C、電池座</a:t>
            </a:r>
          </a:p>
        </p:txBody>
      </p:sp>
      <p:pic>
        <p:nvPicPr>
          <p:cNvPr id="3" name="Picture 2" descr="closeup-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3" y="1325880"/>
            <a:ext cx="5245533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344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電源開關與電源燈（v1.2）。</a:t>
            </a: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SW4 撥桿朝右板邊，絲印標了 ON / OFF：撥向板子上緣（角落孔那側）是 OFF，撥向模組方向是 ON。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D5 藍燈接在 3.3V 上，開機必亮；開關控制穩壓器 EN，關機時 USB 仍可充電。</a:t>
            </a:r>
          </a:p>
        </p:txBody>
      </p:sp>
      <p:pic>
        <p:nvPicPr>
          <p:cNvPr id="5" name="Picture 4" descr="closeup-us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14" y="1325880"/>
            <a:ext cx="3642731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65760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USB-C 區特寫。</a:t>
            </a:r>
            <a:r>
              <a:rPr sz="115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J1 母座開口朝板邊，下方 U4 是 USB ESD 保護。</a:t>
            </a:r>
          </a:p>
        </p:txBody>
      </p:sp>
      <p:pic>
        <p:nvPicPr>
          <p:cNvPr id="7" name="Picture 6" descr="closeup-j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263921"/>
            <a:ext cx="2651759" cy="18963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98280" y="4297680"/>
            <a:ext cx="2560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J4 電池座，從底面看。</a:t>
            </a:r>
            <a:r>
              <a:rPr sz="11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以底面朝自己、天線那端朝下來看，pin 1（VBAT +）在左邊、靠板子中央；pin 2（GND）在右邊、靠板邊。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採購 A · 板子與板上零件：JLCPCB 一次搞定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上傳 fab/esp32s3-camera-gerber.zip、esp32s3-camera-bom.csv、esp32s3-camera-cpl.csv。步驟見 fab/JLCPCB-下單清單.md。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下單規格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658368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× 85 mm、4 層、1.6 mm、1 oz、ENIG 建議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最少 5 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PCBA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Standard（含插件）或 Economic（只焊 SMD），雙面貼片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最少 2 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配對頁要看的料號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U1 </a:t>
                      </a:r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C2913202</a:t>
                      </a:r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（N16R8 模組，可能預購）、D3 </a:t>
                      </a:r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C8598</a:t>
                      </a:r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（SOD-123，不是 SS14）、SW4 </a:t>
                      </a:r>
                      <a:r>
                        <a:rPr sz="1200" b="0" i="0">
                          <a:solidFill>
                            <a:srgbClr val="1B2420"/>
                          </a:solidFill>
                          <a:latin typeface="Consolas"/>
                          <a:ea typeface="Microsoft JhengHei"/>
                          <a:cs typeface="Microsoft JhengHei"/>
                        </a:rPr>
                        <a:t>C431540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逐行確認有貨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85876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選 Economic 方案時要自己買並手焊的插件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206240"/>
          <a:ext cx="11064240" cy="12618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5852160"/>
                <a:gridCol w="246888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零件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連結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J4 JST PH 2.0 mm 2P 立式座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2"/>
                        </a:rPr>
                        <a:t>LCSC C131337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電池座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J5、J6 排針 1×4 2.54 mm ×2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3"/>
                        </a:rPr>
                        <a:t>ICShop 單排 90° 排針（剪成 4P）</a:t>
                      </a:r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sz="120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4"/>
                        </a:rPr>
                        <a:t>LCSC C124378 直排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要接螢幕建議用 90° 彎針，不撐高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採購清單 2026-09-21 整理，與 fab/採購清單.md 同步。連結與價格為查詢當日所見，下單前再確認庫存與規格。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採購 B · 板外零件：一律自己買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124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板外零件清單與購買網址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3200400"/>
                <a:gridCol w="356616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品項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規格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連結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OV2640 相機模組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 pin 0.5 mm 排線，ESP32-CAM 相容，排線約 21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2"/>
                        </a:rPr>
                        <a:t>ICShop OV2640 攝影鏡頭 75°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（NT$110）、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3"/>
                        </a:rPr>
                        <a:t>AliExpress 多焦距／夜視版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排線易折，多買一條。確認是 24P 0.5 mm、ESP32-CAM 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鋰電池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3.7V 單芯，603040 或 503040 約 600 mAh，帶保護板，JST PH 2.0 插頭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4"/>
                        </a:rPr>
                        <a:t>勝特力 503040 600mAh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5"/>
                        </a:rPr>
                        <a:t>詠豐電子 503040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6"/>
                        </a:rPr>
                        <a:t>ICShop 150mAh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收到先量極性，J4 pin 1 = 正極。換小電池要改 R3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預覽螢幕（選配）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通用型 1.3 吋 IPS 240×240 ST7789，7 pin 2.54 mm 焊接式，27.78 × 39.22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7"/>
                        </a:rPr>
                        <a:t>AliExpress 1.3" IPS ST7789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、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8"/>
                        </a:rPr>
                        <a:t>AliExpress 另一賣家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；蝦皮搜「1.3吋 IPS 240x240 ST7789 7pin」約 NT$150–220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替代：</a:t>
                      </a:r>
                      <a:r>
                        <a:rPr sz="9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9"/>
                        </a:rPr>
                        <a:t>ICShop Waveshare 1.3inch LCD</a:t>
                      </a:r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（NT$225），板子較大、腳序不同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杜邦線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母對母 10 cm，7 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ICShop／蝦皮任選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接螢幕到 J5、J6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microSD 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8–32 GB，Class 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任何通路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金手指朝板子插入 J3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USB-C 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要能傳資料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任何通路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燒錄與充電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M2 螺絲與銅柱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板子 4 組，螢幕 4 組（螢幕四角 Ø2 孔）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ICShop／蝦皮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長度依外殼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雙面泡棉膠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2 mm 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五金行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相機模組底下 8 × 8 mm，電池底下 26 × 36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自製或 3D 列印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開孔：鏡頭 (30, 25)、開關右板邊 y 8–14、USB-C 右板邊、記憶卡左板邊、螢幕窗 23.4 × 23.4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採購 C · 模組缺貨的備案，與最小採購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JLCPCB 的 ESP32-S3 模組缺貨時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603504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01168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品項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連結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55625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備註</a:t>
                      </a:r>
                    </a:p>
                  </a:txBody>
                  <a:tcPr marL="73152" marR="73152" marT="36576" marB="36576" anchor="ctr">
                    <a:solidFill>
                      <a:srgbClr val="EEF1E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ESP32-S3-WROOM-1-N16R8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2"/>
                        </a:rPr>
                        <a:t>DigiKey 台灣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滿 NT$1400 免運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6B6B"/>
                          </a:solidFill>
                          <a:latin typeface="Microsoft JhengHei"/>
                          <a:ea typeface="Microsoft JhengHei"/>
                          <a:cs typeface="Microsoft JhengHei"/>
                          <a:hlinkClick r:id="rId3"/>
                        </a:rPr>
                        <a:t>ICShop ESP32-S3-WROOM 模組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42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確認是 N16R8 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3DAD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632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買回來用 JLCPCB 的代寄零件（Consigned parts）服務寄給他們，或自己回焊。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6035040" cy="2377440"/>
          </a:xfrm>
          <a:prstGeom prst="roundRect">
            <a:avLst>
              <a:gd name="adj" fmla="val 4000"/>
            </a:avLst>
          </a:prstGeom>
          <a:solidFill>
            <a:srgbClr val="1F3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只想先點亮板子的最小採購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OV2640 相機模組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3.7V 鋰電池（JST PH 2.0，帶保護板）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microSD 卡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USB-C 線（能傳資料）</a:t>
            </a:r>
          </a:p>
          <a:p>
            <a:pPr algn="l" marL="201168" indent="-201168">
              <a:spcAft>
                <a:spcPts val="500"/>
              </a:spcAft>
              <a:buClr>
                <a:srgbClr val="55625B"/>
              </a:buClr>
              <a:buChar char="•"/>
            </a:pPr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Economic 方案再加 J4 電池座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4813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78040" y="1417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板外零件實物照片（賣場頁面）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板子本身還沒製作，沒有實拍。板外零件的實物照片在各賣場頁面，直接附連結。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37744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40880" y="2468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OV2640 相機模組 → J2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76148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黑色方形感光板加一條 24pin 棕色軟排線，鏡頭在正面。排線接觸面朝下插入 J2。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186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ICShop OV2640 75°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AliExpress 多焦距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Play Robot ESP32-CAM 含模組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675887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0" y="3767327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3.7V 鋰電池 → J4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59935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銀色鋁塑軟包，一端有黃色膠帶包住的保護板，兩線紅黑接白色 JST PH 2.0 插頭。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51713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7"/>
              </a:rPr>
              <a:t>ICShop 2400mAh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8"/>
              </a:rPr>
              <a:t>ICShop 150mAh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9"/>
              </a:rPr>
              <a:t>Yahoo 拍賣 950mAh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974336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40880" y="5065775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板上連接器的長相（JLCPCB 貼好）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358383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想先知道焊上去是什麼樣子，LCSC 產品頁有實物照。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815583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10"/>
              </a:rPr>
              <a:t>J2 FH12-24S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11"/>
              </a:rPr>
              <a:t>J3 DM3AT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12"/>
              </a:rPr>
              <a:t>J1 USB-C 16P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13"/>
              </a:rPr>
              <a:t>J4 B2B-PH-K-S</a:t>
            </a:r>
            <a:r>
              <a:rPr sz="10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000" b="0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  <a:hlinkClick r:id="rId14"/>
              </a:rPr>
              <a:t>U1 模組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right.png"/>
          <p:cNvPicPr>
            <a:picLocks noChangeAspect="1"/>
          </p:cNvPicPr>
          <p:nvPr/>
        </p:nvPicPr>
        <p:blipFill>
          <a:blip r:embed="rId2"/>
          <a:srcRect l="21952" r="2195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0" y="1005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三個動作，板子就能開機</a:t>
            </a:r>
          </a:p>
        </p:txBody>
      </p:sp>
      <p:sp>
        <p:nvSpPr>
          <p:cNvPr id="5" name="Oval 4"/>
          <p:cNvSpPr/>
          <p:nvPr/>
        </p:nvSpPr>
        <p:spPr>
          <a:xfrm>
            <a:off x="6217920" y="2578608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0" y="257860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560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JLCPCB 下單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89864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上傳 Gerber、BOM、CPL；在配對頁逐行確認 U1、D3、SW4 有貨；選 Standard 或 Economic。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3767327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17920" y="376732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49039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自己買板外零件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08736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相機模組、鋰電池、microSD 卡、USB-C 線；Economic 再加 J4 電池座。相機排線多買一條。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4956047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495604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937759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組裝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527608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接電池前先量極性（J4 pin 1 = 正極）。排線反折讓模組貼回板面，墊 2 mm 泡棉膠。螢幕接 J5、J6。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ESP32-S3 Camera · v1.2 · 60 × 85 mm · 4 層 · 2026-09-21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FE3D6"/>
                </a:solidFill>
                <a:latin typeface="Consolas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